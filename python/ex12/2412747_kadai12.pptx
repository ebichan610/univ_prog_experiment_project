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99" d="100"/>
          <a:sy n="99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52691B-4545-901F-990A-CDF868081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B6463E-4C13-9FDF-779E-16EF38695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06E45B-B7CF-A610-953A-B0446F14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C62F5D-0D3A-244D-A12B-9A991B1DC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02504-0396-F80E-8E41-A6F00897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646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FEEC0-4F96-5DBE-1E23-E6657E2F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B7EEA6-9D7D-10B6-0233-3039CACB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5D2790-38C8-9EA3-5335-D7491226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5AC99C-0218-E211-9EFE-B2D75E94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05B569-03C1-4FFF-B498-B7F72291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76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C429A-AD32-1E5A-B176-6F3BB0EB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4C65E7-0082-3678-2325-A368F9DF4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2E00D9-8BCC-95E2-4331-07F339D9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7C1E6-11F5-AD8F-CB79-777E705C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DBC40-AB05-C870-5A1F-89E000CD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46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25063-C849-F245-641A-F1A7F270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B99171-E0E5-A6ED-5F75-3D1C0B3F8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51F3B3-C462-665B-CB8C-1F5FB5C9A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4E7658-E120-6AC0-FD28-F5FDA10C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C0529B-9B79-D77B-2FBF-C1EE18A9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F70C4D-F65F-6315-BF1B-B5E283AF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98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190343-F1E7-8AA4-8833-736F5C62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B41280-21C3-A812-5376-12EFE374B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F1C242-151C-5C92-438A-1735FBE6D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55424E-3BC0-9787-19D2-9EDDA9897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FAAD2C0-9CBA-17F3-DED1-71F463758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24C5F15-99BA-E46F-C11B-C894E568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3D9E3C8-EA5D-3E10-2649-0452844E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5C4C61-2B40-54C7-610E-186D05CA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05AAD2-4EB6-4A36-291C-C3ACC51A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653563-23C3-750A-CE4A-394849E1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18C4DC-1274-48FF-CC92-364FB23B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94EED6-CAD5-549A-9EE7-00904C7D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84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4F40F6-E1A4-9F1E-7039-7F54CDB6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387C1B-3DC2-161F-BF79-5CECF8B6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44C9C8-4861-8CCC-4338-A99208A5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92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6156B8-6E23-C063-2DB5-33D3EA0A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1F06F9-DE33-0999-F0AD-0D4BCD8CF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45D2E4-2920-ECA2-4122-AFD8520BF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57A98B-D314-CA37-7E7F-798ED140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32AFD0-4EDE-AEDA-75DB-196ABD84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AAC978-AE84-8051-451A-D298F3B6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93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668CA-DF50-5739-EB02-48BF833F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9F2B905-1C65-5B47-4392-B7B33A91B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965D5F-4F51-D8A2-3902-192D15E63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EAC5D1-AF15-5496-4EA5-B74705AD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ADF128-A3A2-4B3D-5362-C98F7127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08C677-2C8C-D810-2A35-C627FA6A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0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275E6-9FC1-8D2B-8E26-110682DC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2EE753-945E-471E-F986-C06C6A92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5E10A5-1F17-BDA5-1334-3A5BDD0A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F74A2A-AEFB-6DB1-5181-08526ECA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164614-3B27-E50E-FCD2-43CEBB6C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20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D679BA-09DD-0539-6C71-BD717F042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DB3FE4-D3DF-F1C1-E174-DD6C6DB10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23F8E-72F2-A70F-79E5-D7934D98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9BC285-85B4-CB76-3DF5-1C49F9F6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1CF170-46F0-AEC1-1D25-A4B95722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65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E95E4D-430C-C0AA-A773-3F0207AD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644F41-B284-85DB-A542-CDE6A44E0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65B0DE-AE96-F877-148D-F1328665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322A7-7863-7E4B-985B-25F8E84F16EA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B2725-5BA0-99DF-7E25-E8871134F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742DEE-8319-D04A-0133-16816064A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6F9FD-5D5A-0F40-A3CB-E5A0691DCF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58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31C93-FA74-C291-9990-5A78897C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今回の要点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7F0D64-9837-F269-2291-1A29C3690E84}"/>
              </a:ext>
            </a:extLst>
          </p:cNvPr>
          <p:cNvSpPr txBox="1"/>
          <p:nvPr/>
        </p:nvSpPr>
        <p:spPr>
          <a:xfrm>
            <a:off x="838200" y="1690688"/>
            <a:ext cx="100335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課題</a:t>
            </a:r>
            <a:r>
              <a:rPr kumimoji="1" lang="en-US" altLang="ja-JP" sz="2400" dirty="0"/>
              <a:t>11</a:t>
            </a:r>
            <a:r>
              <a:rPr kumimoji="1" lang="ja-JP" altLang="en-US" sz="2400"/>
              <a:t>とは別の方法で数字を判定しよう！</a:t>
            </a:r>
            <a:endParaRPr kumimoji="1" lang="en-US" altLang="ja-JP" sz="2400" dirty="0"/>
          </a:p>
          <a:p>
            <a:r>
              <a:rPr kumimoji="1" lang="ja-JP" altLang="en-US" sz="2400"/>
              <a:t>今回はもうちょっと「賢い」</a:t>
            </a:r>
            <a:r>
              <a:rPr kumimoji="1" lang="en-US" altLang="ja-JP" sz="2400" dirty="0"/>
              <a:t>(</a:t>
            </a:r>
            <a:r>
              <a:rPr kumimoji="1" lang="ja-JP" altLang="en-US" sz="2400"/>
              <a:t>機械学習っぽい</a:t>
            </a:r>
            <a:r>
              <a:rPr kumimoji="1" lang="en-US" altLang="ja-JP" sz="2400" dirty="0"/>
              <a:t>)</a:t>
            </a:r>
            <a:r>
              <a:rPr kumimoji="1" lang="ja-JP" altLang="en-US" sz="2400"/>
              <a:t>方法で解決しよう</a:t>
            </a:r>
            <a:endParaRPr kumimoji="1" lang="en-US" altLang="ja-JP" sz="2400" dirty="0"/>
          </a:p>
          <a:p>
            <a:r>
              <a:rPr lang="en-US" altLang="ja-JP" sz="2400" dirty="0"/>
              <a:t>→</a:t>
            </a:r>
            <a:r>
              <a:rPr lang="ja-JP" altLang="en-US" sz="2400"/>
              <a:t>数字の形だけをデータとして持って判定するのはどうだろうか？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HOG</a:t>
            </a:r>
            <a:r>
              <a:rPr lang="ja-JP" altLang="en-US" sz="2400"/>
              <a:t>特徴量を利用する！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/>
              <a:t>また、この特徴量を</a:t>
            </a:r>
            <a:r>
              <a:rPr lang="en-US" altLang="ja-JP" sz="2400" dirty="0"/>
              <a:t>SVM</a:t>
            </a:r>
            <a:r>
              <a:rPr lang="ja-JP" altLang="en-US" sz="2400"/>
              <a:t>分類器で学習させる</a:t>
            </a:r>
            <a:endParaRPr lang="en-US" altLang="ja-JP" sz="2400" dirty="0"/>
          </a:p>
          <a:p>
            <a:r>
              <a:rPr lang="en-US" altLang="ja-JP" sz="2400" dirty="0"/>
              <a:t>→</a:t>
            </a:r>
            <a:r>
              <a:rPr lang="ja-JP" altLang="en-US" sz="2400"/>
              <a:t>これによって機械学習の工程が終了して、画像の数字を判別できる！</a:t>
            </a:r>
            <a:endParaRPr lang="en-US" altLang="ja-JP" sz="2400" dirty="0"/>
          </a:p>
          <a:p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05305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459E8-EA3E-44C0-E017-C4996BD3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HOG</a:t>
            </a:r>
            <a:r>
              <a:rPr kumimoji="1" lang="ja-JP" altLang="en-US"/>
              <a:t>特徴量の設計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4DF2D4-8F37-04AE-692F-216AD171AFEB}"/>
              </a:ext>
            </a:extLst>
          </p:cNvPr>
          <p:cNvSpPr txBox="1"/>
          <p:nvPr/>
        </p:nvSpPr>
        <p:spPr>
          <a:xfrm>
            <a:off x="838200" y="1690688"/>
            <a:ext cx="88024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HOG</a:t>
            </a:r>
            <a:r>
              <a:rPr kumimoji="1" lang="ja-JP" altLang="en-US" sz="2400"/>
              <a:t>特徴量とは？</a:t>
            </a:r>
            <a:endParaRPr kumimoji="1" lang="en-US" altLang="ja-JP" sz="2400" dirty="0"/>
          </a:p>
          <a:p>
            <a:r>
              <a:rPr kumimoji="1" lang="ja-JP" altLang="en-US" sz="2400"/>
              <a:t>画像を局所的な領域に分けて、その中での画素値の勾配方向を</a:t>
            </a:r>
            <a:endParaRPr kumimoji="1" lang="en-US" altLang="ja-JP" sz="2400" dirty="0"/>
          </a:p>
          <a:p>
            <a:r>
              <a:rPr lang="ja-JP" altLang="en-US" sz="2400"/>
              <a:t>ヒストグラム化</a:t>
            </a:r>
            <a:r>
              <a:rPr lang="en-US" altLang="ja-JP" sz="2400" dirty="0"/>
              <a:t>(81</a:t>
            </a:r>
            <a:r>
              <a:rPr lang="ja-JP" altLang="en-US" sz="2400"/>
              <a:t>次元化</a:t>
            </a:r>
            <a:r>
              <a:rPr lang="en-US" altLang="ja-JP" sz="2400" dirty="0"/>
              <a:t>)</a:t>
            </a:r>
            <a:r>
              <a:rPr lang="ja-JP" altLang="en-US" sz="2400"/>
              <a:t>したもの</a:t>
            </a:r>
            <a:endParaRPr lang="en-US" altLang="ja-JP" sz="2400" dirty="0"/>
          </a:p>
          <a:p>
            <a:r>
              <a:rPr kumimoji="1" lang="en-US" altLang="ja-JP" sz="2400" dirty="0"/>
              <a:t>→</a:t>
            </a:r>
            <a:r>
              <a:rPr kumimoji="1" lang="ja-JP" altLang="en-US" sz="2400"/>
              <a:t>つまり領域内で線がどの方向に引かれているかがわかる！</a:t>
            </a:r>
            <a:endParaRPr kumimoji="1" lang="en-US" altLang="ja-JP" sz="2400" dirty="0"/>
          </a:p>
          <a:p>
            <a:endParaRPr lang="en-US" altLang="ja-JP" sz="2400" dirty="0"/>
          </a:p>
          <a:p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87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11A955-48AE-9CCC-2C19-48CD6865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SVM</a:t>
            </a:r>
            <a:r>
              <a:rPr kumimoji="1" lang="ja-JP" altLang="en-US"/>
              <a:t>分類器の設計</a:t>
            </a:r>
          </a:p>
        </p:txBody>
      </p:sp>
    </p:spTree>
    <p:extLst>
      <p:ext uri="{BB962C8B-B14F-4D97-AF65-F5344CB8AC3E}">
        <p14:creationId xmlns:p14="http://schemas.microsoft.com/office/powerpoint/2010/main" val="62647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197BFC-A177-A9E9-63AD-334D0AF6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2FDF2F-80AB-51E8-22CB-2A1321E25E3A}"/>
              </a:ext>
            </a:extLst>
          </p:cNvPr>
          <p:cNvSpPr txBox="1"/>
          <p:nvPr/>
        </p:nvSpPr>
        <p:spPr>
          <a:xfrm>
            <a:off x="347730" y="2274838"/>
            <a:ext cx="1653369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/>
              <a:t>HOG特徴 + SVM</a:t>
            </a:r>
          </a:p>
          <a:p>
            <a:r>
              <a:rPr lang="ja-JP" altLang="ja-JP" b="1"/>
              <a:t>考え方</a:t>
            </a:r>
            <a:r>
              <a:rPr lang="ja-JP" altLang="ja-JP"/>
              <a:t>　画像から</a:t>
            </a:r>
            <a:r>
              <a:rPr lang="ja-JP" altLang="ja-JP" b="1"/>
              <a:t>形を表す特徴量を設計</a:t>
            </a:r>
            <a:r>
              <a:rPr lang="ja-JP" altLang="ja-JP"/>
              <a:t>し、その特徴で</a:t>
            </a:r>
            <a:r>
              <a:rPr lang="ja-JP" altLang="ja-JP" b="1"/>
              <a:t>クラスを分ける境界を学習</a:t>
            </a:r>
            <a:r>
              <a:rPr lang="ja-JP" altLang="ja-JP"/>
              <a:t>する手法（課題11と対照的）。</a:t>
            </a:r>
          </a:p>
          <a:p>
            <a:r>
              <a:rPr lang="ja-JP" altLang="ja-JP" b="1"/>
              <a:t>前処理の追加</a:t>
            </a:r>
            <a:r>
              <a:rPr lang="ja-JP" altLang="ja-JP"/>
              <a:t>　**deskew（傾き補正）**で数字の傾きをまっすぐにする。</a:t>
            </a:r>
          </a:p>
          <a:p>
            <a:r>
              <a:rPr lang="ja-JP" altLang="ja-JP" b="1"/>
              <a:t>特徴（HOG）</a:t>
            </a:r>
            <a:r>
              <a:rPr lang="ja-JP" altLang="ja-JP"/>
              <a:t>　画像を小領域に分け、各領域で</a:t>
            </a:r>
            <a:r>
              <a:rPr lang="ja-JP" altLang="ja-JP" b="1"/>
              <a:t>線がどの向きに走っているか</a:t>
            </a:r>
            <a:r>
              <a:rPr lang="ja-JP" altLang="ja-JP"/>
              <a:t>をヒストグラム化（81次元）。生ピクセルより字形の違いに強い。</a:t>
            </a:r>
          </a:p>
          <a:p>
            <a:r>
              <a:rPr lang="ja-JP" altLang="ja-JP" b="1"/>
              <a:t>分類器（SVM）</a:t>
            </a:r>
            <a:r>
              <a:rPr lang="ja-JP" altLang="ja-JP"/>
              <a:t>　HOG特徴を cv2.ml.SVM（RBFカーネル）で学習。各数字を分ける</a:t>
            </a:r>
            <a:r>
              <a:rPr lang="ja-JP" altLang="ja-JP" b="1"/>
              <a:t>マージン最大の境界</a:t>
            </a:r>
            <a:r>
              <a:rPr lang="ja-JP" altLang="ja-JP"/>
              <a:t>を引く。多クラス対応なので0〜9を一度に扱える。</a:t>
            </a:r>
          </a:p>
          <a:p>
            <a:r>
              <a:rPr lang="ja-JP" altLang="ja-JP" b="1"/>
              <a:t>長所</a:t>
            </a:r>
            <a:r>
              <a:rPr lang="ja-JP" altLang="ja-JP"/>
              <a:t>　形を捉えるため高精度になりやすい。</a:t>
            </a:r>
            <a:r>
              <a:rPr lang="ja-JP" altLang="ja-JP" b="1"/>
              <a:t>短所</a:t>
            </a:r>
            <a:r>
              <a:rPr lang="ja-JP" altLang="ja-JP"/>
              <a:t>　特徴設計やパラメータ（C・γ）の調整が必要。</a:t>
            </a:r>
          </a:p>
          <a:p>
            <a:r>
              <a:rPr lang="ja-JP" altLang="ja-JP" b="1"/>
              <a:t>図のアイデア</a:t>
            </a:r>
            <a:r>
              <a:rPr lang="ja-JP" altLang="ja-JP"/>
              <a:t>　各セルの勾配方向ヒストグラム（HOG）の図と、SVMがマージン最大で境界を引く図。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39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316</Words>
  <Application>Microsoft Macintosh PowerPoint</Application>
  <PresentationFormat>ワイド画面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今回の要点</vt:lpstr>
      <vt:lpstr>HOG特徴量の設計</vt:lpstr>
      <vt:lpstr>SVM分類器の設計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3</cp:revision>
  <dcterms:created xsi:type="dcterms:W3CDTF">2026-06-19T05:23:51Z</dcterms:created>
  <dcterms:modified xsi:type="dcterms:W3CDTF">2026-06-19T05:54:49Z</dcterms:modified>
</cp:coreProperties>
</file>
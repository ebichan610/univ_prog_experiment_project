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0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52691B-4545-901F-990A-CDF868081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6463E-4C13-9FDF-779E-16EF38695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06E45B-B7CF-A610-953A-B0446F14D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C62F5D-0D3A-244D-A12B-9A991B1DC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902504-0396-F80E-8E41-A6F00897E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6468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8FEEC0-4F96-5DBE-1E23-E6657E2FF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B7EEA6-9D7D-10B6-0233-3039CACBC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5D2790-38C8-9EA3-5335-D7491226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AC99C-0218-E211-9EFE-B2D75E94E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05B569-03C1-4FFF-B498-B7F722916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76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C429A-AD32-1E5A-B176-6F3BB0EB3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4C65E7-0082-3678-2325-A368F9DF4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2E00D9-8BCC-95E2-4331-07F339D94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7C1E6-11F5-AD8F-CB79-777E705C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4DBC40-AB05-C870-5A1F-89E000CD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462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925063-C849-F245-641A-F1A7F270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B99171-E0E5-A6ED-5F75-3D1C0B3F8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51F3B3-C462-665B-CB8C-1F5FB5C9A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4E7658-E120-6AC0-FD28-F5FDA10CA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8C0529B-9B79-D77B-2FBF-C1EE18A97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F70C4D-F65F-6315-BF1B-B5E283AF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988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190343-F1E7-8AA4-8833-736F5C627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FB41280-21C3-A812-5376-12EFE374B3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F1C242-151C-5C92-438A-1735FBE6D5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055424E-3BC0-9787-19D2-9EDDA9897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FAAD2C0-9CBA-17F3-DED1-71F463758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24C5F15-99BA-E46F-C11B-C894E568D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D9E3C8-EA5D-3E10-2649-0452844ED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95C4C61-2B40-54C7-610E-186D05CA9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2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05AAD2-4EB6-4A36-291C-C3ACC51A6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8653563-23C3-750A-CE4A-394849E12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118C4DC-1274-48FF-CC92-364FB23BB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94EED6-CAD5-549A-9EE7-00904C7D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841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E4F40F6-E1A4-9F1E-7039-7F54CDB6A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5387C1B-3DC2-161F-BF79-5CECF8B6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44C9C8-4861-8CCC-4338-A99208A5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3923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6156B8-6E23-C063-2DB5-33D3EA0AD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11F06F9-DE33-0999-F0AD-0D4BCD8CF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45D2E4-2920-ECA2-4122-AFD8520BF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57A98B-D314-CA37-7E7F-798ED140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232AFD0-4EDE-AEDA-75DB-196ABD84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AAC978-AE84-8051-451A-D298F3B69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1939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668CA-DF50-5739-EB02-48BF833FF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9F2B905-1C65-5B47-4392-B7B33A91BB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965D5F-4F51-D8A2-3902-192D15E63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EAC5D1-AF15-5496-4EA5-B74705ADF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ADF128-A3A2-4B3D-5362-C98F7127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908C677-2C8C-D810-2A35-C627FA6AA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206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275E6-9FC1-8D2B-8E26-110682DCF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2EE753-945E-471E-F986-C06C6A92E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5E10A5-1F17-BDA5-1334-3A5BDD0A9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74A2A-AEFB-6DB1-5181-08526ECA0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164614-3B27-E50E-FCD2-43CEBB6C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120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D679BA-09DD-0539-6C71-BD717F0423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5DB3FE4-D3DF-F1C1-E174-DD6C6DB10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623F8E-72F2-A70F-79E5-D7934D98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9BC285-85B4-CB76-3DF5-1C49F9F6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1CF170-46F0-AEC1-1D25-A4B957226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5655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EE95E4D-430C-C0AA-A773-3F0207ADC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644F41-B284-85DB-A542-CDE6A44E0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65B0DE-AE96-F877-148D-F1328665A9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B2725-5BA0-99DF-7E25-E8871134F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742DEE-8319-D04A-0133-16816064A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582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B31C93-FA74-C291-9990-5A78897C3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今回の要点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7F0D64-9837-F269-2291-1A29C3690E84}"/>
              </a:ext>
            </a:extLst>
          </p:cNvPr>
          <p:cNvSpPr txBox="1"/>
          <p:nvPr/>
        </p:nvSpPr>
        <p:spPr>
          <a:xfrm>
            <a:off x="838200" y="1690688"/>
            <a:ext cx="1003351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課題</a:t>
            </a:r>
            <a:r>
              <a:rPr kumimoji="1" lang="en-US" altLang="ja-JP" sz="2400" dirty="0"/>
              <a:t>11</a:t>
            </a:r>
            <a:r>
              <a:rPr kumimoji="1" lang="ja-JP" altLang="en-US" sz="2400"/>
              <a:t>とは別の方法で数字を判定しよう！</a:t>
            </a:r>
            <a:endParaRPr kumimoji="1" lang="en-US" altLang="ja-JP" sz="2400" dirty="0"/>
          </a:p>
          <a:p>
            <a:r>
              <a:rPr kumimoji="1" lang="ja-JP" altLang="en-US" sz="2400"/>
              <a:t>今回はもうちょっと「賢い」</a:t>
            </a:r>
            <a:r>
              <a:rPr kumimoji="1" lang="en-US" altLang="ja-JP" sz="2400" dirty="0"/>
              <a:t>(</a:t>
            </a:r>
            <a:r>
              <a:rPr kumimoji="1" lang="ja-JP" altLang="en-US" sz="2400"/>
              <a:t>機械学習っぽい</a:t>
            </a:r>
            <a:r>
              <a:rPr kumimoji="1" lang="en-US" altLang="ja-JP" sz="2400" dirty="0"/>
              <a:t>)</a:t>
            </a:r>
            <a:r>
              <a:rPr kumimoji="1" lang="ja-JP" altLang="en-US" sz="2400"/>
              <a:t>方法で解決しよう</a:t>
            </a:r>
            <a:endParaRPr kumimoji="1"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数字の形だけをデータとして持って判定するのはどうだろうか？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HOG</a:t>
            </a:r>
            <a:r>
              <a:rPr lang="ja-JP" altLang="en-US" sz="2400"/>
              <a:t>特徴量を利用する！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また、この特徴量を</a:t>
            </a:r>
            <a:r>
              <a:rPr lang="en-US" altLang="ja-JP" sz="2400" dirty="0"/>
              <a:t>SVM</a:t>
            </a:r>
            <a:r>
              <a:rPr lang="ja-JP" altLang="en-US" sz="2400"/>
              <a:t>分類器で学習させる</a:t>
            </a:r>
            <a:endParaRPr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これによって機械学習の工程が終了して、画像の数字を判別できる！</a:t>
            </a:r>
            <a:endParaRPr lang="en-US" altLang="ja-JP" sz="2400" dirty="0"/>
          </a:p>
          <a:p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053057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4459E8-EA3E-44C0-E017-C4996BD32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HOG</a:t>
            </a:r>
            <a:r>
              <a:rPr kumimoji="1" lang="ja-JP" altLang="en-US"/>
              <a:t>特徴量の設計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4DF2D4-8F37-04AE-692F-216AD171AFEB}"/>
              </a:ext>
            </a:extLst>
          </p:cNvPr>
          <p:cNvSpPr txBox="1"/>
          <p:nvPr/>
        </p:nvSpPr>
        <p:spPr>
          <a:xfrm>
            <a:off x="838200" y="1690688"/>
            <a:ext cx="1034129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HOG</a:t>
            </a:r>
            <a:r>
              <a:rPr kumimoji="1" lang="ja-JP" altLang="en-US" sz="2400"/>
              <a:t>特徴量とは？</a:t>
            </a:r>
            <a:endParaRPr kumimoji="1" lang="en-US" altLang="ja-JP" sz="2400" dirty="0"/>
          </a:p>
          <a:p>
            <a:r>
              <a:rPr kumimoji="1" lang="ja-JP" altLang="en-US" sz="2400"/>
              <a:t>画像を局所的な領域に分けて、その中での画素値の勾配方向を</a:t>
            </a:r>
            <a:endParaRPr kumimoji="1" lang="en-US" altLang="ja-JP" sz="2400" dirty="0"/>
          </a:p>
          <a:p>
            <a:r>
              <a:rPr lang="ja-JP" altLang="en-US" sz="2400"/>
              <a:t>ヒストグラム化</a:t>
            </a:r>
            <a:r>
              <a:rPr lang="en-US" altLang="ja-JP" sz="2400" dirty="0"/>
              <a:t>(81</a:t>
            </a:r>
            <a:r>
              <a:rPr lang="ja-JP" altLang="en-US" sz="2400"/>
              <a:t>次元化</a:t>
            </a:r>
            <a:r>
              <a:rPr lang="en-US" altLang="ja-JP" sz="2400" dirty="0"/>
              <a:t>)</a:t>
            </a:r>
            <a:r>
              <a:rPr lang="ja-JP" altLang="en-US" sz="2400"/>
              <a:t>したもの</a:t>
            </a:r>
            <a:endParaRPr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つまり領域内で線がどの方向に引かれているかがわかる！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" altLang="ja-JP" sz="2400" dirty="0"/>
              <a:t>cv2.HOGDescriptor((28, 28), (14, 14), (7, 7), (14, 14), 9)</a:t>
            </a:r>
            <a:r>
              <a:rPr kumimoji="1" lang="ja-JP" altLang="en-US" sz="2400"/>
              <a:t>で設定</a:t>
            </a:r>
            <a:endParaRPr kumimoji="1" lang="en-US" altLang="ja-JP" sz="2400" dirty="0"/>
          </a:p>
          <a:p>
            <a:r>
              <a:rPr kumimoji="1" lang="ja-JP" altLang="en-US" sz="2400"/>
              <a:t>引数は、画像領域の大きさ、正規化領域の大きさ、ブロックの移動間隔、</a:t>
            </a:r>
            <a:endParaRPr kumimoji="1" lang="en-US" altLang="ja-JP" sz="2400" dirty="0"/>
          </a:p>
          <a:p>
            <a:r>
              <a:rPr lang="ja-JP" altLang="en-US" sz="2400"/>
              <a:t>ブロックの大きさ、勾配方向の分割数</a:t>
            </a:r>
            <a:endParaRPr lang="en-US" altLang="ja-JP" sz="2400" dirty="0"/>
          </a:p>
          <a:p>
            <a:r>
              <a:rPr kumimoji="1" lang="ja-JP" altLang="en-US" sz="2400"/>
              <a:t>となっている</a:t>
            </a:r>
            <a:endParaRPr kumimoji="1" lang="en-US" altLang="ja-JP" sz="2400" dirty="0"/>
          </a:p>
          <a:p>
            <a:r>
              <a:rPr lang="ja-JP" altLang="en-US" sz="2400"/>
              <a:t>これで、画像の数字の特徴量が効率的に取れる！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7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11A955-48AE-9CCC-2C19-48CD68655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SVM</a:t>
            </a:r>
            <a:r>
              <a:rPr kumimoji="1" lang="ja-JP" altLang="en-US"/>
              <a:t>分類器の設計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8AE408-CD38-118A-CE25-FDDCCDF7ABB8}"/>
              </a:ext>
            </a:extLst>
          </p:cNvPr>
          <p:cNvSpPr txBox="1"/>
          <p:nvPr/>
        </p:nvSpPr>
        <p:spPr>
          <a:xfrm>
            <a:off x="838200" y="1690688"/>
            <a:ext cx="917110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機械学習の定番の</a:t>
            </a:r>
            <a:r>
              <a:rPr kumimoji="1" lang="en-US" altLang="ja-JP" sz="2400" dirty="0"/>
              <a:t>SVM</a:t>
            </a:r>
            <a:r>
              <a:rPr kumimoji="1" lang="ja-JP" altLang="en-US" sz="2400"/>
              <a:t>分類器を使用</a:t>
            </a:r>
            <a:endParaRPr kumimoji="1" lang="en-US" altLang="ja-JP" sz="2400" dirty="0"/>
          </a:p>
          <a:p>
            <a:r>
              <a:rPr lang="en-US" altLang="ja-JP" sz="2400" dirty="0"/>
              <a:t>SVM</a:t>
            </a:r>
            <a:r>
              <a:rPr lang="ja-JP" altLang="en-US" sz="2400"/>
              <a:t>とは、特徴量をもとにデータを複数のクラスへ分類するもの</a:t>
            </a:r>
            <a:endParaRPr lang="en-US" altLang="ja-JP" sz="2400" dirty="0"/>
          </a:p>
          <a:p>
            <a:r>
              <a:rPr kumimoji="1" lang="en-US" altLang="ja-JP" sz="2400" dirty="0"/>
              <a:t>HOG</a:t>
            </a:r>
            <a:r>
              <a:rPr kumimoji="1" lang="ja-JP" altLang="en-US" sz="2400"/>
              <a:t>特徴量を見て、どのクラスに属するかを判定できる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/>
              <a:t>今回は</a:t>
            </a:r>
            <a:r>
              <a:rPr kumimoji="1" lang="en-US" altLang="ja-JP" sz="2400" dirty="0"/>
              <a:t>RBF</a:t>
            </a:r>
            <a:r>
              <a:rPr kumimoji="1" lang="ja-JP" altLang="en-US" sz="2400"/>
              <a:t>カーネルというものを使用して分類</a:t>
            </a:r>
            <a:endParaRPr kumimoji="1" lang="en-US" altLang="ja-JP" sz="2400" dirty="0"/>
          </a:p>
          <a:p>
            <a:r>
              <a:rPr lang="ja-JP" altLang="en-US" sz="2400"/>
              <a:t>これは複雑な特徴量を分類するのに非常に向いている</a:t>
            </a:r>
            <a:endParaRPr lang="en-US" altLang="ja-JP" sz="2400" dirty="0"/>
          </a:p>
          <a:p>
            <a:r>
              <a:rPr kumimoji="1" lang="ja-JP" altLang="en-US" sz="2400"/>
              <a:t>ただし、ガンマ値と</a:t>
            </a:r>
            <a:r>
              <a:rPr kumimoji="1" lang="en-US" altLang="ja-JP" sz="2400" dirty="0"/>
              <a:t>C</a:t>
            </a:r>
            <a:r>
              <a:rPr kumimoji="1" lang="ja-JP" altLang="en-US" sz="2400"/>
              <a:t>値を調整してあげる必要がある</a:t>
            </a:r>
            <a:endParaRPr kumimoji="1" lang="en-US" altLang="ja-JP" sz="2400" dirty="0"/>
          </a:p>
          <a:p>
            <a:r>
              <a:rPr lang="en-US" altLang="ja-JP" sz="2400" dirty="0"/>
              <a:t>←</a:t>
            </a:r>
            <a:r>
              <a:rPr lang="ja-JP" altLang="en-US" sz="2400"/>
              <a:t>ガンマ値：</a:t>
            </a:r>
            <a:r>
              <a:rPr lang="en-US" altLang="ja-JP" sz="2400" dirty="0"/>
              <a:t>1</a:t>
            </a:r>
            <a:r>
              <a:rPr lang="ja-JP" altLang="en-US" sz="2400"/>
              <a:t>つの学習データが周囲にどれほど影響するか</a:t>
            </a:r>
            <a:endParaRPr lang="en-US" altLang="ja-JP" sz="2400" dirty="0"/>
          </a:p>
          <a:p>
            <a:r>
              <a:rPr kumimoji="1" lang="ja-JP" altLang="en-US" sz="2400"/>
              <a:t>　</a:t>
            </a:r>
            <a:r>
              <a:rPr kumimoji="1" lang="en-US" altLang="ja-JP" sz="2400" dirty="0"/>
              <a:t>C</a:t>
            </a:r>
            <a:r>
              <a:rPr kumimoji="1" lang="ja-JP" altLang="en-US" sz="2400"/>
              <a:t>値：学習データの誤分類をどれほど厳しく扱うか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/>
              <a:t>この方法で数字が簡潔に分類できた！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626470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320</Words>
  <Application>Microsoft Macintosh PowerPoint</Application>
  <PresentationFormat>ワイド画面</PresentationFormat>
  <Paragraphs>32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今回の要点</vt:lpstr>
      <vt:lpstr>HOG特徴量の設計</vt:lpstr>
      <vt:lpstr>SVM分類器の設計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5</cp:revision>
  <dcterms:created xsi:type="dcterms:W3CDTF">2026-06-19T05:23:51Z</dcterms:created>
  <dcterms:modified xsi:type="dcterms:W3CDTF">2026-06-19T06:24:13Z</dcterms:modified>
</cp:coreProperties>
</file>
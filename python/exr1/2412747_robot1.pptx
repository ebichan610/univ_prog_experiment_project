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/>
    <p:restoredTop sz="94681"/>
  </p:normalViewPr>
  <p:slideViewPr>
    <p:cSldViewPr snapToGrid="0">
      <p:cViewPr varScale="1">
        <p:scale>
          <a:sx n="99" d="100"/>
          <a:sy n="99" d="100"/>
        </p:scale>
        <p:origin x="96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E114427-9158-D094-39B5-B8B08C1DB7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7AB38DD1-37D6-9999-DC33-32CAE474F4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95F9BE4-9867-3471-5C8C-227D21D6D2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38BE6-25DD-A841-A546-FE78A4A5222F}" type="datetimeFigureOut">
              <a:rPr kumimoji="1" lang="ja-JP" altLang="en-US" smtClean="0"/>
              <a:t>2026/6/19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2B2F483-0EBA-0D88-1C73-003934561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05FA4CB-760B-0D1A-7BFC-F40569698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B9E72-A9C7-E742-B73C-364227F4247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723646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F96AF4D-5BA5-8ABD-99FE-E7176E38A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3C59F16-725E-320F-18BE-8A0727794E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BA2169E-C1C2-6DC7-1E35-E00C7834E6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38BE6-25DD-A841-A546-FE78A4A5222F}" type="datetimeFigureOut">
              <a:rPr kumimoji="1" lang="ja-JP" altLang="en-US" smtClean="0"/>
              <a:t>2026/6/19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E7E7A82-5BC0-416E-6323-AA07060F6F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FFBEFD2-AABA-CE71-D39C-39F160D8B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B9E72-A9C7-E742-B73C-364227F4247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358156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B94614C-1A20-0098-3D34-A18817B092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A1AF9FA-05EE-6DC6-F092-BC248F2942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F7D6335-0822-A296-DFEB-34977166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38BE6-25DD-A841-A546-FE78A4A5222F}" type="datetimeFigureOut">
              <a:rPr kumimoji="1" lang="ja-JP" altLang="en-US" smtClean="0"/>
              <a:t>2026/6/19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7230C0C-AE65-69EE-24F1-3F03EF3149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506EC42-8573-55B1-74C4-A434987C7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B9E72-A9C7-E742-B73C-364227F4247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93261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B64FE2F-6457-336C-545C-5B204CACF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62B4478-7632-9502-5E56-B47FA56A5E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5AF1D55-FFD2-D0DC-AB09-E8CEDCC13D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15F7FEE-4C55-CE44-118A-EF32CD57DF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38BE6-25DD-A841-A546-FE78A4A5222F}" type="datetimeFigureOut">
              <a:rPr kumimoji="1" lang="ja-JP" altLang="en-US" smtClean="0"/>
              <a:t>2026/6/19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5C43912-0243-E342-6404-A2E437AAB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D4A6A50-E003-F4C7-E38E-1B1E5A7BA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B9E72-A9C7-E742-B73C-364227F4247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499587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1C278F0-F291-F5FF-C0D8-60FCAB9E36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1CEC138-1067-FF44-1B7F-D728EC5090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5FE6043-105F-8547-2280-9B94753761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84F42FFA-A966-3964-B6E0-E0E082E1C4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57BC375D-25FA-63A7-6F9F-2514A8AA48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1EFBF537-878F-AA64-86AB-FDFAB983E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38BE6-25DD-A841-A546-FE78A4A5222F}" type="datetimeFigureOut">
              <a:rPr kumimoji="1" lang="ja-JP" altLang="en-US" smtClean="0"/>
              <a:t>2026/6/19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872F33EC-212C-9940-CAC5-EA820F783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47C6CFD5-1292-9B51-19A2-726C10E79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B9E72-A9C7-E742-B73C-364227F4247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052769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5FC0B52-B602-EE09-D802-BF8B0952EB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F58D1B2B-FD5A-F41E-013B-4FBE80A7C3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38BE6-25DD-A841-A546-FE78A4A5222F}" type="datetimeFigureOut">
              <a:rPr kumimoji="1" lang="ja-JP" altLang="en-US" smtClean="0"/>
              <a:t>2026/6/19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07FCFF79-F03F-DC9A-9AB8-1CA7E6846D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A1C4EFB8-69DB-EFAD-5A4F-20FDA745E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B9E72-A9C7-E742-B73C-364227F4247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60259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84AB0D1F-42B4-FF92-D59A-83B6B6A683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38BE6-25DD-A841-A546-FE78A4A5222F}" type="datetimeFigureOut">
              <a:rPr kumimoji="1" lang="ja-JP" altLang="en-US" smtClean="0"/>
              <a:t>2026/6/19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A1ADDC03-B9C5-564A-2807-E4AFD8C8E9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7F687BB-B268-BC0C-9484-B88D46EBB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B9E72-A9C7-E742-B73C-364227F4247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796470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0B5D582-934C-00E0-4D04-B1B56187AC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E7FBC43-96D1-422E-47C3-4E9839E6FA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230A948-CE60-6C6F-8CF8-DF7EE15AA1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7AF672-6C71-9FC0-DE6B-33E778AA8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38BE6-25DD-A841-A546-FE78A4A5222F}" type="datetimeFigureOut">
              <a:rPr kumimoji="1" lang="ja-JP" altLang="en-US" smtClean="0"/>
              <a:t>2026/6/19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ECF37DA-ABDF-2DDA-7648-05DD5F6B1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BFE6C7B-22C2-831D-A112-0FB4758F8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B9E72-A9C7-E742-B73C-364227F4247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637397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5D9C061-484E-8AB5-9AB4-00A56D05D9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CFB112E7-BB0D-03C5-1AD7-8142A62899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E06F6D5-BB04-F397-A669-F092007CE3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F08C800-6D46-BFC5-AACD-CF9F36C339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38BE6-25DD-A841-A546-FE78A4A5222F}" type="datetimeFigureOut">
              <a:rPr kumimoji="1" lang="ja-JP" altLang="en-US" smtClean="0"/>
              <a:t>2026/6/19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3104ECA-702D-2636-9525-03279A2951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8C1CE6E-5DA1-CAD2-8D37-DAE00981A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B9E72-A9C7-E742-B73C-364227F4247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986180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427B9D8-0083-E415-6BE0-961A161EC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489D41C-1462-1CE2-F707-A9BB4CF34D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DE739C3-DD9F-6C79-494B-C0D6C8CD9C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38BE6-25DD-A841-A546-FE78A4A5222F}" type="datetimeFigureOut">
              <a:rPr kumimoji="1" lang="ja-JP" altLang="en-US" smtClean="0"/>
              <a:t>2026/6/19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BD164F6-ACD1-3C86-0403-FDD5F4DF31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AC31F53-7CE7-1B7C-5B90-174486C2B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B9E72-A9C7-E742-B73C-364227F4247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686246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B5AA069-C0C4-F5B4-AFAD-60CF92A445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7A5A6F6-DC33-3155-3F02-D93611655C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3AAFA23-1A45-0EAB-1614-01924127C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38BE6-25DD-A841-A546-FE78A4A5222F}" type="datetimeFigureOut">
              <a:rPr kumimoji="1" lang="ja-JP" altLang="en-US" smtClean="0"/>
              <a:t>2026/6/19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58FC85F-ED61-C5AD-6044-B292A33AD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8D9BD31-849E-B90D-FD3C-7AA37F33C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B9E72-A9C7-E742-B73C-364227F4247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080963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DBF5B3E7-80F1-52F7-E724-5629A0C8D2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04A4120-723E-AD4F-1FDD-1711A70651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EBA1494-F5CA-A28C-E62D-03FEA6374B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F38BE6-25DD-A841-A546-FE78A4A5222F}" type="datetimeFigureOut">
              <a:rPr kumimoji="1" lang="ja-JP" altLang="en-US" smtClean="0"/>
              <a:t>2026/6/19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BB57BB4-9B9B-7C14-18AB-1CA02CADC3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AD8E00-8B2A-804D-068F-B30768EA53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6B9E72-A9C7-E742-B73C-364227F4247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88676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FC401D4-A595-F240-01D3-AA226DD2D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今回の要点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0E6B5BE-3982-4801-3763-9EE93E8337E2}"/>
              </a:ext>
            </a:extLst>
          </p:cNvPr>
          <p:cNvSpPr txBox="1"/>
          <p:nvPr/>
        </p:nvSpPr>
        <p:spPr>
          <a:xfrm>
            <a:off x="838200" y="1690688"/>
            <a:ext cx="541686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/>
              <a:t>赤いボールを使ってロボットを動かす</a:t>
            </a:r>
            <a:endParaRPr lang="en-US" altLang="ja-JP" sz="2400" dirty="0"/>
          </a:p>
          <a:p>
            <a:r>
              <a:rPr kumimoji="1" lang="ja-JP" altLang="en-US" sz="2400"/>
              <a:t>一見すると難しそうな課題だが・・・</a:t>
            </a:r>
            <a:endParaRPr kumimoji="1" lang="en-US" altLang="ja-JP" sz="2400" dirty="0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A86B72A5-39BF-C2B4-B75D-705921D55263}"/>
              </a:ext>
            </a:extLst>
          </p:cNvPr>
          <p:cNvSpPr/>
          <p:nvPr/>
        </p:nvSpPr>
        <p:spPr>
          <a:xfrm>
            <a:off x="2176530" y="3026535"/>
            <a:ext cx="3219718" cy="90152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>
                <a:solidFill>
                  <a:sysClr val="windowText" lastClr="000000"/>
                </a:solidFill>
              </a:rPr>
              <a:t>ロボットの動作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76DF2CE6-ECFD-E580-1B63-AE1673374D18}"/>
              </a:ext>
            </a:extLst>
          </p:cNvPr>
          <p:cNvSpPr/>
          <p:nvPr/>
        </p:nvSpPr>
        <p:spPr>
          <a:xfrm>
            <a:off x="6795754" y="3026535"/>
            <a:ext cx="3219718" cy="901521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>
                <a:solidFill>
                  <a:sysClr val="windowText" lastClr="000000"/>
                </a:solidFill>
              </a:rPr>
              <a:t>赤色物体の追跡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1758E94C-4C0B-2E8D-88EF-906CC4741051}"/>
              </a:ext>
            </a:extLst>
          </p:cNvPr>
          <p:cNvSpPr txBox="1"/>
          <p:nvPr/>
        </p:nvSpPr>
        <p:spPr>
          <a:xfrm>
            <a:off x="5920312" y="3292629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+</a:t>
            </a:r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460F7BD-413F-09AC-B401-E9E19F8BF07A}"/>
              </a:ext>
            </a:extLst>
          </p:cNvPr>
          <p:cNvSpPr txBox="1"/>
          <p:nvPr/>
        </p:nvSpPr>
        <p:spPr>
          <a:xfrm>
            <a:off x="838200" y="4432906"/>
            <a:ext cx="7298793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/>
              <a:t>この</a:t>
            </a:r>
            <a:r>
              <a:rPr kumimoji="1" lang="en-US" altLang="ja-JP" sz="2400" dirty="0"/>
              <a:t>2</a:t>
            </a:r>
            <a:r>
              <a:rPr kumimoji="1" lang="ja-JP" altLang="en-US" sz="2400"/>
              <a:t>つを単に合わせただけ！</a:t>
            </a:r>
            <a:endParaRPr kumimoji="1" lang="en-US" altLang="ja-JP" sz="2400" dirty="0"/>
          </a:p>
          <a:p>
            <a:r>
              <a:rPr lang="ja-JP" altLang="en-US" sz="2400"/>
              <a:t>しかも、ロボットの動作はサンプルコードで、</a:t>
            </a:r>
            <a:endParaRPr lang="en-US" altLang="ja-JP" sz="2400" dirty="0"/>
          </a:p>
          <a:p>
            <a:r>
              <a:rPr kumimoji="1" lang="ja-JP" altLang="en-US" sz="2400"/>
              <a:t>赤色物体の追跡は課題</a:t>
            </a:r>
            <a:r>
              <a:rPr kumimoji="1" lang="en-US" altLang="ja-JP" sz="2400" dirty="0"/>
              <a:t>7</a:t>
            </a:r>
            <a:r>
              <a:rPr kumimoji="1" lang="ja-JP" altLang="en-US" sz="2400"/>
              <a:t>と</a:t>
            </a:r>
            <a:r>
              <a:rPr kumimoji="1" lang="en-US" altLang="ja-JP" sz="2400" dirty="0"/>
              <a:t>8</a:t>
            </a:r>
            <a:r>
              <a:rPr kumimoji="1" lang="ja-JP" altLang="en-US" sz="2400"/>
              <a:t>ですでにやっているもの</a:t>
            </a:r>
            <a:endParaRPr kumimoji="1" lang="en-US" altLang="ja-JP" sz="2400" dirty="0"/>
          </a:p>
          <a:p>
            <a:endParaRPr lang="en-US" altLang="ja-JP" sz="2400" dirty="0"/>
          </a:p>
          <a:p>
            <a:r>
              <a:rPr kumimoji="1" lang="en-US" altLang="ja-JP" sz="2400" dirty="0"/>
              <a:t>→</a:t>
            </a:r>
            <a:r>
              <a:rPr kumimoji="1" lang="ja-JP" altLang="en-US" sz="2400"/>
              <a:t>つまり、既存のものを組み合わせるだけで完成！</a:t>
            </a:r>
          </a:p>
        </p:txBody>
      </p:sp>
    </p:spTree>
    <p:extLst>
      <p:ext uri="{BB962C8B-B14F-4D97-AF65-F5344CB8AC3E}">
        <p14:creationId xmlns:p14="http://schemas.microsoft.com/office/powerpoint/2010/main" val="26602402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7E6213-B500-E787-90F4-0B8C1AAC0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ロボットの動かし方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32C3913-494D-4BED-D00D-56B7A838F572}"/>
              </a:ext>
            </a:extLst>
          </p:cNvPr>
          <p:cNvSpPr txBox="1"/>
          <p:nvPr/>
        </p:nvSpPr>
        <p:spPr>
          <a:xfrm>
            <a:off x="838200" y="1690688"/>
            <a:ext cx="606448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 err="1"/>
              <a:t>r</a:t>
            </a:r>
            <a:r>
              <a:rPr kumimoji="1" lang="en-US" altLang="ja-JP" sz="2400" dirty="0" err="1"/>
              <a:t>ed_mask</a:t>
            </a:r>
            <a:r>
              <a:rPr kumimoji="1" lang="ja-JP" altLang="en-US" sz="2400"/>
              <a:t>で赤色を</a:t>
            </a:r>
            <a:r>
              <a:rPr kumimoji="1" lang="en-US" altLang="ja-JP" sz="2400" dirty="0"/>
              <a:t>HSV</a:t>
            </a:r>
            <a:r>
              <a:rPr kumimoji="1" lang="ja-JP" altLang="en-US" sz="2400"/>
              <a:t>変換して抽出</a:t>
            </a:r>
            <a:endParaRPr kumimoji="1" lang="en-US" altLang="ja-JP" sz="2400" dirty="0"/>
          </a:p>
          <a:p>
            <a:r>
              <a:rPr lang="en-US" altLang="ja-JP" sz="2400" dirty="0"/>
              <a:t>cv2.moments</a:t>
            </a:r>
            <a:r>
              <a:rPr lang="ja-JP" altLang="en-US" sz="2400"/>
              <a:t>で物体の重心と面積を求める</a:t>
            </a:r>
            <a:endParaRPr lang="en-US" altLang="ja-JP" sz="2400" dirty="0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70769ADA-F5D4-6CEA-8E4D-C1BFD736B927}"/>
              </a:ext>
            </a:extLst>
          </p:cNvPr>
          <p:cNvSpPr/>
          <p:nvPr/>
        </p:nvSpPr>
        <p:spPr>
          <a:xfrm>
            <a:off x="838200" y="3429000"/>
            <a:ext cx="2021984" cy="69545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>
                <a:solidFill>
                  <a:sysClr val="windowText" lastClr="000000"/>
                </a:solidFill>
              </a:rPr>
              <a:t>停止</a:t>
            </a:r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227B9551-15F7-CA5D-09D8-00758C72F59F}"/>
              </a:ext>
            </a:extLst>
          </p:cNvPr>
          <p:cNvCxnSpPr>
            <a:stCxn id="5" idx="0"/>
          </p:cNvCxnSpPr>
          <p:nvPr/>
        </p:nvCxnSpPr>
        <p:spPr>
          <a:xfrm flipV="1">
            <a:off x="1849192" y="2743200"/>
            <a:ext cx="3289478" cy="6858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326535AA-D035-ECB4-E838-3CCC71182089}"/>
              </a:ext>
            </a:extLst>
          </p:cNvPr>
          <p:cNvCxnSpPr>
            <a:cxnSpLocks/>
          </p:cNvCxnSpPr>
          <p:nvPr/>
        </p:nvCxnSpPr>
        <p:spPr>
          <a:xfrm flipH="1" flipV="1">
            <a:off x="5138670" y="2743200"/>
            <a:ext cx="3289479" cy="6858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D2F815C6-ACBD-F7E6-B334-6F6B69B1532D}"/>
              </a:ext>
            </a:extLst>
          </p:cNvPr>
          <p:cNvSpPr txBox="1"/>
          <p:nvPr/>
        </p:nvSpPr>
        <p:spPr>
          <a:xfrm>
            <a:off x="1462606" y="2820445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ボールが見えない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A26807BE-54E2-B26C-8480-3DD6BC686FA7}"/>
              </a:ext>
            </a:extLst>
          </p:cNvPr>
          <p:cNvSpPr txBox="1"/>
          <p:nvPr/>
        </p:nvSpPr>
        <p:spPr>
          <a:xfrm>
            <a:off x="6637767" y="2775397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ボールが見える</a:t>
            </a:r>
          </a:p>
        </p:txBody>
      </p: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B25E887C-4FB7-61E2-0417-7BB1275DBEC2}"/>
              </a:ext>
            </a:extLst>
          </p:cNvPr>
          <p:cNvCxnSpPr>
            <a:cxnSpLocks/>
          </p:cNvCxnSpPr>
          <p:nvPr/>
        </p:nvCxnSpPr>
        <p:spPr>
          <a:xfrm flipV="1">
            <a:off x="5022761" y="3429000"/>
            <a:ext cx="3405388" cy="108470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0F2CC57F-9FEC-C6B6-8D6E-6DD7A00FB566}"/>
              </a:ext>
            </a:extLst>
          </p:cNvPr>
          <p:cNvCxnSpPr>
            <a:cxnSpLocks/>
          </p:cNvCxnSpPr>
          <p:nvPr/>
        </p:nvCxnSpPr>
        <p:spPr>
          <a:xfrm flipH="1" flipV="1">
            <a:off x="8428149" y="3429000"/>
            <a:ext cx="1036411" cy="108230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358DBACF-C431-B2A0-544A-B2D0D90BC5D3}"/>
              </a:ext>
            </a:extLst>
          </p:cNvPr>
          <p:cNvSpPr txBox="1"/>
          <p:nvPr/>
        </p:nvSpPr>
        <p:spPr>
          <a:xfrm>
            <a:off x="5328767" y="3708151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重心</a:t>
            </a: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9ECFA542-2B15-4DE3-153F-449026F5A531}"/>
              </a:ext>
            </a:extLst>
          </p:cNvPr>
          <p:cNvSpPr txBox="1"/>
          <p:nvPr/>
        </p:nvSpPr>
        <p:spPr>
          <a:xfrm>
            <a:off x="9264577" y="385740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面積</a:t>
            </a:r>
          </a:p>
        </p:txBody>
      </p:sp>
      <p:cxnSp>
        <p:nvCxnSpPr>
          <p:cNvPr id="30" name="直線コネクタ 29">
            <a:extLst>
              <a:ext uri="{FF2B5EF4-FFF2-40B4-BE49-F238E27FC236}">
                <a16:creationId xmlns:a16="http://schemas.microsoft.com/office/drawing/2014/main" id="{A7B04188-5294-AEFF-6144-937F5EE26D2A}"/>
              </a:ext>
            </a:extLst>
          </p:cNvPr>
          <p:cNvCxnSpPr>
            <a:cxnSpLocks/>
          </p:cNvCxnSpPr>
          <p:nvPr/>
        </p:nvCxnSpPr>
        <p:spPr>
          <a:xfrm flipV="1">
            <a:off x="3870440" y="4513709"/>
            <a:ext cx="1152321" cy="65360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直線コネクタ 32">
            <a:extLst>
              <a:ext uri="{FF2B5EF4-FFF2-40B4-BE49-F238E27FC236}">
                <a16:creationId xmlns:a16="http://schemas.microsoft.com/office/drawing/2014/main" id="{CE69B312-4E1A-B680-DB42-1B59EE22FB6D}"/>
              </a:ext>
            </a:extLst>
          </p:cNvPr>
          <p:cNvCxnSpPr>
            <a:cxnSpLocks/>
          </p:cNvCxnSpPr>
          <p:nvPr/>
        </p:nvCxnSpPr>
        <p:spPr>
          <a:xfrm flipH="1" flipV="1">
            <a:off x="5022761" y="4513708"/>
            <a:ext cx="1152321" cy="65360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DA960019-009A-ACAA-4D34-C621E8350C0C}"/>
              </a:ext>
            </a:extLst>
          </p:cNvPr>
          <p:cNvSpPr txBox="1"/>
          <p:nvPr/>
        </p:nvSpPr>
        <p:spPr>
          <a:xfrm>
            <a:off x="3870440" y="4471177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左寄り</a:t>
            </a:r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6F4ECB54-A591-DAC8-A61C-D14A66CE0EC0}"/>
              </a:ext>
            </a:extLst>
          </p:cNvPr>
          <p:cNvSpPr txBox="1"/>
          <p:nvPr/>
        </p:nvSpPr>
        <p:spPr>
          <a:xfrm>
            <a:off x="5409711" y="4471177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/>
              <a:t>右</a:t>
            </a:r>
            <a:r>
              <a:rPr kumimoji="1" lang="ja-JP" altLang="en-US"/>
              <a:t>寄り</a:t>
            </a:r>
          </a:p>
        </p:txBody>
      </p: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0BD312D8-929E-14A7-CCCE-CFB02C2D2072}"/>
              </a:ext>
            </a:extLst>
          </p:cNvPr>
          <p:cNvSpPr/>
          <p:nvPr/>
        </p:nvSpPr>
        <p:spPr>
          <a:xfrm>
            <a:off x="2859448" y="5164913"/>
            <a:ext cx="2021984" cy="69545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>
                <a:solidFill>
                  <a:sysClr val="windowText" lastClr="000000"/>
                </a:solidFill>
              </a:rPr>
              <a:t>左回転</a:t>
            </a:r>
            <a:endParaRPr kumimoji="1" lang="ja-JP" altLang="en-US">
              <a:solidFill>
                <a:sysClr val="windowText" lastClr="000000"/>
              </a:solidFill>
            </a:endParaRPr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2DCD6901-8843-DB2C-306C-84C7D2E076FC}"/>
              </a:ext>
            </a:extLst>
          </p:cNvPr>
          <p:cNvSpPr/>
          <p:nvPr/>
        </p:nvSpPr>
        <p:spPr>
          <a:xfrm>
            <a:off x="5164090" y="5164912"/>
            <a:ext cx="2021984" cy="69545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>
                <a:solidFill>
                  <a:sysClr val="windowText" lastClr="000000"/>
                </a:solidFill>
              </a:rPr>
              <a:t>右回転</a:t>
            </a:r>
            <a:endParaRPr kumimoji="1" lang="ja-JP" altLang="en-US">
              <a:solidFill>
                <a:sysClr val="windowText" lastClr="000000"/>
              </a:solidFill>
            </a:endParaRPr>
          </a:p>
        </p:txBody>
      </p:sp>
      <p:sp>
        <p:nvSpPr>
          <p:cNvPr id="43" name="正方形/長方形 42">
            <a:extLst>
              <a:ext uri="{FF2B5EF4-FFF2-40B4-BE49-F238E27FC236}">
                <a16:creationId xmlns:a16="http://schemas.microsoft.com/office/drawing/2014/main" id="{415BDF68-3625-56FF-AF3C-4258516A1A13}"/>
              </a:ext>
            </a:extLst>
          </p:cNvPr>
          <p:cNvSpPr/>
          <p:nvPr/>
        </p:nvSpPr>
        <p:spPr>
          <a:xfrm>
            <a:off x="7327403" y="5164911"/>
            <a:ext cx="2021984" cy="69545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>
                <a:solidFill>
                  <a:sysClr val="windowText" lastClr="000000"/>
                </a:solidFill>
              </a:rPr>
              <a:t>前進</a:t>
            </a:r>
          </a:p>
        </p:txBody>
      </p: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4431F52F-10C1-CE92-E8EF-C17722AF87B4}"/>
              </a:ext>
            </a:extLst>
          </p:cNvPr>
          <p:cNvSpPr/>
          <p:nvPr/>
        </p:nvSpPr>
        <p:spPr>
          <a:xfrm>
            <a:off x="9587742" y="5165393"/>
            <a:ext cx="2021984" cy="69545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>
                <a:solidFill>
                  <a:sysClr val="windowText" lastClr="000000"/>
                </a:solidFill>
              </a:rPr>
              <a:t>前進</a:t>
            </a:r>
          </a:p>
        </p:txBody>
      </p:sp>
      <p:cxnSp>
        <p:nvCxnSpPr>
          <p:cNvPr id="45" name="直線コネクタ 44">
            <a:extLst>
              <a:ext uri="{FF2B5EF4-FFF2-40B4-BE49-F238E27FC236}">
                <a16:creationId xmlns:a16="http://schemas.microsoft.com/office/drawing/2014/main" id="{E7AD05D4-2549-C2ED-C900-AC0619F94CEA}"/>
              </a:ext>
            </a:extLst>
          </p:cNvPr>
          <p:cNvCxnSpPr>
            <a:cxnSpLocks/>
          </p:cNvCxnSpPr>
          <p:nvPr/>
        </p:nvCxnSpPr>
        <p:spPr>
          <a:xfrm flipV="1">
            <a:off x="8312239" y="4511308"/>
            <a:ext cx="1152321" cy="65360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直線コネクタ 46">
            <a:extLst>
              <a:ext uri="{FF2B5EF4-FFF2-40B4-BE49-F238E27FC236}">
                <a16:creationId xmlns:a16="http://schemas.microsoft.com/office/drawing/2014/main" id="{B685C91C-6DFC-5520-86F2-B2BA9C22963B}"/>
              </a:ext>
            </a:extLst>
          </p:cNvPr>
          <p:cNvCxnSpPr>
            <a:cxnSpLocks/>
          </p:cNvCxnSpPr>
          <p:nvPr/>
        </p:nvCxnSpPr>
        <p:spPr>
          <a:xfrm flipH="1" flipV="1">
            <a:off x="9464560" y="4511307"/>
            <a:ext cx="1152321" cy="65360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B3E302DA-4EF2-B538-F046-2F44461C9CCD}"/>
              </a:ext>
            </a:extLst>
          </p:cNvPr>
          <p:cNvSpPr txBox="1"/>
          <p:nvPr/>
        </p:nvSpPr>
        <p:spPr>
          <a:xfrm>
            <a:off x="7185338" y="4426656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目標より小さい</a:t>
            </a:r>
          </a:p>
        </p:txBody>
      </p:sp>
      <p:sp>
        <p:nvSpPr>
          <p:cNvPr id="49" name="テキスト ボックス 48">
            <a:extLst>
              <a:ext uri="{FF2B5EF4-FFF2-40B4-BE49-F238E27FC236}">
                <a16:creationId xmlns:a16="http://schemas.microsoft.com/office/drawing/2014/main" id="{D6E5C417-43A0-FD54-C2C1-3A3104614DFC}"/>
              </a:ext>
            </a:extLst>
          </p:cNvPr>
          <p:cNvSpPr txBox="1"/>
          <p:nvPr/>
        </p:nvSpPr>
        <p:spPr>
          <a:xfrm>
            <a:off x="9831807" y="4426656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目標より大きい</a:t>
            </a:r>
          </a:p>
        </p:txBody>
      </p:sp>
      <p:cxnSp>
        <p:nvCxnSpPr>
          <p:cNvPr id="52" name="直線コネクタ 51">
            <a:extLst>
              <a:ext uri="{FF2B5EF4-FFF2-40B4-BE49-F238E27FC236}">
                <a16:creationId xmlns:a16="http://schemas.microsoft.com/office/drawing/2014/main" id="{0545C74E-BCAE-07AF-6391-22B488759131}"/>
              </a:ext>
            </a:extLst>
          </p:cNvPr>
          <p:cNvCxnSpPr>
            <a:cxnSpLocks/>
          </p:cNvCxnSpPr>
          <p:nvPr/>
        </p:nvCxnSpPr>
        <p:spPr>
          <a:xfrm flipH="1">
            <a:off x="8438260" y="3415160"/>
            <a:ext cx="1813323" cy="1143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5" name="テキスト ボックス 54">
            <a:extLst>
              <a:ext uri="{FF2B5EF4-FFF2-40B4-BE49-F238E27FC236}">
                <a16:creationId xmlns:a16="http://schemas.microsoft.com/office/drawing/2014/main" id="{A2AE4E05-E8C7-672E-0D30-ECEE4C8046EC}"/>
              </a:ext>
            </a:extLst>
          </p:cNvPr>
          <p:cNvSpPr txBox="1"/>
          <p:nvPr/>
        </p:nvSpPr>
        <p:spPr>
          <a:xfrm>
            <a:off x="8829361" y="307626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それ以外</a:t>
            </a:r>
          </a:p>
        </p:txBody>
      </p:sp>
      <p:sp>
        <p:nvSpPr>
          <p:cNvPr id="56" name="正方形/長方形 55">
            <a:extLst>
              <a:ext uri="{FF2B5EF4-FFF2-40B4-BE49-F238E27FC236}">
                <a16:creationId xmlns:a16="http://schemas.microsoft.com/office/drawing/2014/main" id="{B32C55A6-AAF0-0287-74B0-34A5C22411DA}"/>
              </a:ext>
            </a:extLst>
          </p:cNvPr>
          <p:cNvSpPr/>
          <p:nvPr/>
        </p:nvSpPr>
        <p:spPr>
          <a:xfrm>
            <a:off x="10040720" y="3144729"/>
            <a:ext cx="2021984" cy="69545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>
                <a:solidFill>
                  <a:sysClr val="windowText" lastClr="000000"/>
                </a:solidFill>
              </a:rPr>
              <a:t>停止</a:t>
            </a:r>
          </a:p>
        </p:txBody>
      </p:sp>
      <p:sp>
        <p:nvSpPr>
          <p:cNvPr id="57" name="テキスト ボックス 56">
            <a:extLst>
              <a:ext uri="{FF2B5EF4-FFF2-40B4-BE49-F238E27FC236}">
                <a16:creationId xmlns:a16="http://schemas.microsoft.com/office/drawing/2014/main" id="{350B9C4A-641B-7B1B-B039-3AC4C9950152}"/>
              </a:ext>
            </a:extLst>
          </p:cNvPr>
          <p:cNvSpPr txBox="1"/>
          <p:nvPr/>
        </p:nvSpPr>
        <p:spPr>
          <a:xfrm>
            <a:off x="838200" y="6184774"/>
            <a:ext cx="48013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/>
              <a:t>このようにして命令を出している</a:t>
            </a:r>
          </a:p>
        </p:txBody>
      </p:sp>
    </p:spTree>
    <p:extLst>
      <p:ext uri="{BB962C8B-B14F-4D97-AF65-F5344CB8AC3E}">
        <p14:creationId xmlns:p14="http://schemas.microsoft.com/office/powerpoint/2010/main" val="40355322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131</Words>
  <Application>Microsoft Macintosh PowerPoint</Application>
  <PresentationFormat>ワイド画面</PresentationFormat>
  <Paragraphs>30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6" baseType="lpstr">
      <vt:lpstr>游ゴシック</vt:lpstr>
      <vt:lpstr>游ゴシック Light</vt:lpstr>
      <vt:lpstr>Arial</vt:lpstr>
      <vt:lpstr>Office テーマ</vt:lpstr>
      <vt:lpstr>今回の要点</vt:lpstr>
      <vt:lpstr>ロボットの動かし方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江尾　祐哉</dc:creator>
  <cp:lastModifiedBy>江尾　祐哉</cp:lastModifiedBy>
  <cp:revision>9</cp:revision>
  <dcterms:created xsi:type="dcterms:W3CDTF">2026-06-19T06:59:04Z</dcterms:created>
  <dcterms:modified xsi:type="dcterms:W3CDTF">2026-06-19T07:26:38Z</dcterms:modified>
</cp:coreProperties>
</file>
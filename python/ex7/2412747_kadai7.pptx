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00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00" d="100"/>
          <a:sy n="100" d="100"/>
        </p:scale>
        <p:origin x="9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3A1C02-CF2C-D330-C00B-F3ADE2633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10376DA-A7DD-CD4B-97F8-985460715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41A3F1-5D11-0E41-4EC4-A85209F6C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013F-E566-084D-8909-8EC0C9FFAC58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93A787-9BD4-849B-84DA-17C652B3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F77126-DC2E-EF9F-CDD3-63BE92E0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3478-88CD-064F-A6F7-8E72FEBCB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21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B1C33A-0C9C-662C-C894-033364C2F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1F9DB8-A415-A66D-03EB-E73D9938E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899980-55B3-0595-29F5-ABB24ACFC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013F-E566-084D-8909-8EC0C9FFAC58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BF9FE2-1A92-6C14-BDEC-346614ADD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942EF6-3AA2-E5E3-C6C7-978DE82B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3478-88CD-064F-A6F7-8E72FEBCB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5325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2230B1-9274-2755-BCE2-7109678E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E56BBB-BB7D-7B20-1335-34703D95A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591657-F413-3FF4-42C2-BF924DF23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013F-E566-084D-8909-8EC0C9FFAC58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D05528-8EFA-795B-36E4-99804411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EEED8B-0A41-FD48-3E9C-EBB5E58F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3478-88CD-064F-A6F7-8E72FEBCB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73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FCEB87-8C5C-1FC3-AEDE-97D68B904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484159-7FFA-5A75-60F5-55354A2CB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6D22D4-6195-FE7A-ED9D-1580F8266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A9C414-3E1B-4EA6-DFA8-F64292C8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013F-E566-084D-8909-8EC0C9FFAC58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9B53A9-465C-A3C7-04CF-D12A68C7E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6556E2-CEDA-01D5-5A58-1CBF7EB3A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3478-88CD-064F-A6F7-8E72FEBCB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41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F36BE9-3707-4125-8394-1C6A13AB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C1C8B8-2A2C-3606-BBCA-4C98A9E6B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D6EA6D-1C3F-6FF3-34B7-B43FFD218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58E74BB-F453-60C3-4525-3A86B839B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316A67B-0C19-79E3-342D-F59039D71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08AA8AD-3019-F249-72FC-76D80906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013F-E566-084D-8909-8EC0C9FFAC58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10332C6-9073-DB9A-EEB6-C1EBC673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889E31A-777C-20B6-3EF0-A3D4D47F7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3478-88CD-064F-A6F7-8E72FEBCB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5692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F05B07-566C-3CC5-B21E-CCD16C28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E369374-F558-845E-9F28-C1601E732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013F-E566-084D-8909-8EC0C9FFAC58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0608745-BD7C-78DA-AC6A-4D5236574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7BF8E79-080B-D87A-1B14-5CF238264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3478-88CD-064F-A6F7-8E72FEBCB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37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85FB094-AB9D-6DFD-DABE-034E4CD1E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013F-E566-084D-8909-8EC0C9FFAC58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44FB950-24C8-2494-1F6D-1AC767EA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ECB064-30D7-82F1-D0FD-CD2F38F3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3478-88CD-064F-A6F7-8E72FEBCB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558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452D39-3150-027D-97C7-680A7E2F2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BB971A-E598-AD9B-9BB8-1BEC79CF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F0CC92-877E-A98A-B472-0EA763124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52D2FD-51E9-EE0A-F77B-234DF6154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013F-E566-084D-8909-8EC0C9FFAC58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16EFE1-2ABB-0215-7C22-A351DBD4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2AA77E-9384-8C8A-9227-843524092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3478-88CD-064F-A6F7-8E72FEBCB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865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D12CB7-5AC6-F48E-CA0B-5E9777FF3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517ADC2-6EC4-0576-DF0F-F67D04BEF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222941-5B44-2C7E-B1E9-455310841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99435F-6B32-2686-1203-3BED9056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013F-E566-084D-8909-8EC0C9FFAC58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74D6C6-8385-9FBA-F105-C14FD7802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564C8C-D984-562A-6420-A85D40A32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3478-88CD-064F-A6F7-8E72FEBCB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627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3CE3A1-0F2C-A8A6-1E0E-25020FB92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0844AA-CFAE-264D-B8C8-70F537630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49833B-66A1-E5D9-06B7-94BE0BF95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013F-E566-084D-8909-8EC0C9FFAC58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9BDEEB-9B63-BA2A-D0F9-A8D5C53B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3064AA-F7F2-F7BB-7B4D-6017FC2A6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3478-88CD-064F-A6F7-8E72FEBCB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977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33F9FD5-94C2-A3F7-1A5F-F709056C3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4BBF98E-8B99-290C-35B8-B6C66E1AD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82F210-68E3-FAE6-77BA-3260EB87E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013F-E566-084D-8909-8EC0C9FFAC58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11F482-E800-392E-F3B7-5B8532485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848EA-95C8-20EF-1B13-56D40FC2F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3478-88CD-064F-A6F7-8E72FEBCB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5070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5D8D122-C398-DA68-D102-8434C7D4C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6C0E09-3855-A82F-A807-1CCD5ACF2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A579E5-11CA-0BE7-EAF8-2E25F0FACB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E013F-E566-084D-8909-8EC0C9FFAC58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BF1E9A-490D-45B7-AE52-966686573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E65AC6-19FC-156C-F654-4DDE9FD4D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ED3478-88CD-064F-A6F7-8E72FEBCB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13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7E3ED1-C6A7-91E9-22C2-ADB6558C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/>
              <a:t>アルゴリズム選定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2F632A0-2008-BE59-05A7-08671DD80F32}"/>
              </a:ext>
            </a:extLst>
          </p:cNvPr>
          <p:cNvSpPr/>
          <p:nvPr/>
        </p:nvSpPr>
        <p:spPr>
          <a:xfrm>
            <a:off x="191869" y="2008188"/>
            <a:ext cx="3511550" cy="774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混合正規分布に基づく</a:t>
            </a:r>
            <a:br>
              <a:rPr kumimoji="1" lang="en-US" altLang="ja-JP" dirty="0"/>
            </a:br>
            <a:r>
              <a:rPr kumimoji="1" lang="ja-JP" altLang="en-US"/>
              <a:t>領域分割アルゴリズム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3A5B27F-9F3C-2604-8669-267C4E9B90CE}"/>
              </a:ext>
            </a:extLst>
          </p:cNvPr>
          <p:cNvSpPr/>
          <p:nvPr/>
        </p:nvSpPr>
        <p:spPr>
          <a:xfrm>
            <a:off x="4246344" y="2008188"/>
            <a:ext cx="3511550" cy="774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フレーム間差分の論理積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F1BB390-4A34-F354-BDA0-0F1AA9FBC688}"/>
              </a:ext>
            </a:extLst>
          </p:cNvPr>
          <p:cNvSpPr/>
          <p:nvPr/>
        </p:nvSpPr>
        <p:spPr>
          <a:xfrm>
            <a:off x="8291294" y="2008188"/>
            <a:ext cx="3511550" cy="774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K</a:t>
            </a:r>
            <a:r>
              <a:rPr kumimoji="1" lang="ja-JP" altLang="en-US"/>
              <a:t>近傍法に基づく</a:t>
            </a:r>
            <a:br>
              <a:rPr kumimoji="1" lang="en-US" altLang="ja-JP" dirty="0"/>
            </a:br>
            <a:r>
              <a:rPr kumimoji="1" lang="ja-JP" altLang="en-US"/>
              <a:t>背景差分アルゴリズム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08E71A2-28E0-A0DE-D4FA-6D0D74121D4A}"/>
              </a:ext>
            </a:extLst>
          </p:cNvPr>
          <p:cNvSpPr txBox="1"/>
          <p:nvPr/>
        </p:nvSpPr>
        <p:spPr>
          <a:xfrm>
            <a:off x="11353800" y="291572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など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CF08FDD-2CF1-D0C6-45C0-0FDD2A9E491B}"/>
              </a:ext>
            </a:extLst>
          </p:cNvPr>
          <p:cNvSpPr txBox="1"/>
          <p:nvPr/>
        </p:nvSpPr>
        <p:spPr>
          <a:xfrm>
            <a:off x="0" y="4285516"/>
            <a:ext cx="6032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・自分で設計し調整できる</a:t>
            </a:r>
            <a:endParaRPr kumimoji="1" lang="en-US" altLang="ja-JP" sz="2400" dirty="0"/>
          </a:p>
          <a:p>
            <a:r>
              <a:rPr kumimoji="1" lang="ja-JP" altLang="en-US" sz="2400"/>
              <a:t>・今回の動画は解像度が低くぼやけている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45A0049-083E-4835-0B11-AD5C199C7AD8}"/>
              </a:ext>
            </a:extLst>
          </p:cNvPr>
          <p:cNvSpPr txBox="1"/>
          <p:nvPr/>
        </p:nvSpPr>
        <p:spPr>
          <a:xfrm>
            <a:off x="6153993" y="3577630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solidFill>
                  <a:srgbClr val="FF0000"/>
                </a:solidFill>
              </a:rPr>
              <a:t>最適！</a:t>
            </a:r>
          </a:p>
        </p:txBody>
      </p:sp>
      <p:sp>
        <p:nvSpPr>
          <p:cNvPr id="17" name="下矢印 16">
            <a:extLst>
              <a:ext uri="{FF2B5EF4-FFF2-40B4-BE49-F238E27FC236}">
                <a16:creationId xmlns:a16="http://schemas.microsoft.com/office/drawing/2014/main" id="{AF707280-E79A-4009-9B91-1B5D6C3C1887}"/>
              </a:ext>
            </a:extLst>
          </p:cNvPr>
          <p:cNvSpPr/>
          <p:nvPr/>
        </p:nvSpPr>
        <p:spPr>
          <a:xfrm rot="13086612">
            <a:off x="5195328" y="2803262"/>
            <a:ext cx="671131" cy="17164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6130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6A1C13-8C2D-05D2-20C7-034C74CF4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/>
          <a:lstStyle/>
          <a:p>
            <a:pPr algn="ctr"/>
            <a:r>
              <a:rPr kumimoji="1" lang="ja-JP" altLang="en-US"/>
              <a:t>フレーム間差分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A983410-121A-1D78-7366-688A92AA1A37}"/>
              </a:ext>
            </a:extLst>
          </p:cNvPr>
          <p:cNvSpPr/>
          <p:nvPr/>
        </p:nvSpPr>
        <p:spPr>
          <a:xfrm>
            <a:off x="1093787" y="1574007"/>
            <a:ext cx="3511550" cy="774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r>
              <a:rPr kumimoji="1" lang="ja-JP" altLang="en-US"/>
              <a:t>フレームの画像をとる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D0760420-F231-E350-015C-FF276EFA9023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4605337" y="1961357"/>
            <a:ext cx="29813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AF3D526-9760-571A-613F-490470B28074}"/>
              </a:ext>
            </a:extLst>
          </p:cNvPr>
          <p:cNvSpPr/>
          <p:nvPr/>
        </p:nvSpPr>
        <p:spPr>
          <a:xfrm>
            <a:off x="7586663" y="1574007"/>
            <a:ext cx="3511550" cy="774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r>
              <a:rPr kumimoji="1" lang="ja-JP" altLang="en-US"/>
              <a:t>つの差分をとる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D2A30B0-1F8A-CEE7-AAB5-E747FB3F98FB}"/>
              </a:ext>
            </a:extLst>
          </p:cNvPr>
          <p:cNvSpPr/>
          <p:nvPr/>
        </p:nvSpPr>
        <p:spPr>
          <a:xfrm>
            <a:off x="1093787" y="2736057"/>
            <a:ext cx="3511550" cy="774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r>
              <a:rPr kumimoji="1" lang="ja-JP" altLang="en-US"/>
              <a:t>つの差分から論理積差分を出す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23231B7-E657-789D-B77B-560E93B64246}"/>
              </a:ext>
            </a:extLst>
          </p:cNvPr>
          <p:cNvCxnSpPr>
            <a:cxnSpLocks/>
          </p:cNvCxnSpPr>
          <p:nvPr/>
        </p:nvCxnSpPr>
        <p:spPr>
          <a:xfrm>
            <a:off x="11098213" y="1961357"/>
            <a:ext cx="7381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FAC69650-6D62-86C8-F199-305B7173ADF9}"/>
              </a:ext>
            </a:extLst>
          </p:cNvPr>
          <p:cNvCxnSpPr>
            <a:cxnSpLocks/>
          </p:cNvCxnSpPr>
          <p:nvPr/>
        </p:nvCxnSpPr>
        <p:spPr>
          <a:xfrm>
            <a:off x="355600" y="3136107"/>
            <a:ext cx="7381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2A7BB73-DE2B-F21E-7FAB-67A6CCB7D479}"/>
              </a:ext>
            </a:extLst>
          </p:cNvPr>
          <p:cNvCxnSpPr>
            <a:cxnSpLocks/>
          </p:cNvCxnSpPr>
          <p:nvPr/>
        </p:nvCxnSpPr>
        <p:spPr>
          <a:xfrm>
            <a:off x="4618037" y="3136107"/>
            <a:ext cx="29813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7869D0D-2E95-94AB-9503-943D79362FD0}"/>
              </a:ext>
            </a:extLst>
          </p:cNvPr>
          <p:cNvSpPr/>
          <p:nvPr/>
        </p:nvSpPr>
        <p:spPr>
          <a:xfrm>
            <a:off x="7612063" y="2748757"/>
            <a:ext cx="3511550" cy="774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r>
              <a:rPr kumimoji="1" lang="ja-JP" altLang="en-US"/>
              <a:t>つの差分をとる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9E79FF8-AB7C-05FE-91F8-D4A61C18C457}"/>
              </a:ext>
            </a:extLst>
          </p:cNvPr>
          <p:cNvSpPr/>
          <p:nvPr/>
        </p:nvSpPr>
        <p:spPr>
          <a:xfrm>
            <a:off x="1093787" y="3923507"/>
            <a:ext cx="3511550" cy="774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r>
              <a:rPr kumimoji="1" lang="ja-JP" altLang="en-US"/>
              <a:t>値化してハイライト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5935EC3-EDB2-0A46-F283-87A24BCB958A}"/>
              </a:ext>
            </a:extLst>
          </p:cNvPr>
          <p:cNvSpPr/>
          <p:nvPr/>
        </p:nvSpPr>
        <p:spPr>
          <a:xfrm>
            <a:off x="7612063" y="3923507"/>
            <a:ext cx="3511550" cy="774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フィルターをかけて整備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9F285B9-FAB7-A21D-CD7A-9E8D35ED3101}"/>
              </a:ext>
            </a:extLst>
          </p:cNvPr>
          <p:cNvCxnSpPr>
            <a:cxnSpLocks/>
          </p:cNvCxnSpPr>
          <p:nvPr/>
        </p:nvCxnSpPr>
        <p:spPr>
          <a:xfrm>
            <a:off x="4605337" y="4310857"/>
            <a:ext cx="29813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E31CAA13-3F3E-4F66-6EEC-6FBC5F2BE6F5}"/>
              </a:ext>
            </a:extLst>
          </p:cNvPr>
          <p:cNvCxnSpPr>
            <a:cxnSpLocks/>
          </p:cNvCxnSpPr>
          <p:nvPr/>
        </p:nvCxnSpPr>
        <p:spPr>
          <a:xfrm>
            <a:off x="355600" y="4310857"/>
            <a:ext cx="7381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AE7F7D0F-0722-91F8-C766-6CF4A1330CAB}"/>
              </a:ext>
            </a:extLst>
          </p:cNvPr>
          <p:cNvCxnSpPr>
            <a:cxnSpLocks/>
          </p:cNvCxnSpPr>
          <p:nvPr/>
        </p:nvCxnSpPr>
        <p:spPr>
          <a:xfrm>
            <a:off x="11123613" y="3123407"/>
            <a:ext cx="7381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フローチャート: 結合子 20">
            <a:extLst>
              <a:ext uri="{FF2B5EF4-FFF2-40B4-BE49-F238E27FC236}">
                <a16:creationId xmlns:a16="http://schemas.microsoft.com/office/drawing/2014/main" id="{5214DD6F-AB15-8D94-CED5-0982298FF892}"/>
              </a:ext>
            </a:extLst>
          </p:cNvPr>
          <p:cNvSpPr/>
          <p:nvPr/>
        </p:nvSpPr>
        <p:spPr>
          <a:xfrm>
            <a:off x="4178300" y="5061352"/>
            <a:ext cx="3835400" cy="1597807"/>
          </a:xfrm>
          <a:prstGeom prst="flowChartConnector">
            <a:avLst/>
          </a:prstGeom>
          <a:solidFill>
            <a:srgbClr val="FE00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動いている部分が検出できた！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E07B029C-14E7-B8BF-8D33-B2FC473AA132}"/>
              </a:ext>
            </a:extLst>
          </p:cNvPr>
          <p:cNvCxnSpPr>
            <a:cxnSpLocks/>
          </p:cNvCxnSpPr>
          <p:nvPr/>
        </p:nvCxnSpPr>
        <p:spPr>
          <a:xfrm>
            <a:off x="355600" y="5860255"/>
            <a:ext cx="3822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E371B4F-D80E-48CC-DBD8-312053A5D6A7}"/>
              </a:ext>
            </a:extLst>
          </p:cNvPr>
          <p:cNvCxnSpPr>
            <a:cxnSpLocks/>
          </p:cNvCxnSpPr>
          <p:nvPr/>
        </p:nvCxnSpPr>
        <p:spPr>
          <a:xfrm>
            <a:off x="11160919" y="4310064"/>
            <a:ext cx="7381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72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6AE11D-B232-DC44-12E8-B8180599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/>
              <a:t>動きの追跡</a:t>
            </a:r>
          </a:p>
        </p:txBody>
      </p:sp>
      <p:sp>
        <p:nvSpPr>
          <p:cNvPr id="3" name="雲 2">
            <a:extLst>
              <a:ext uri="{FF2B5EF4-FFF2-40B4-BE49-F238E27FC236}">
                <a16:creationId xmlns:a16="http://schemas.microsoft.com/office/drawing/2014/main" id="{15CF1704-8703-F008-5C39-DC2CF554231A}"/>
              </a:ext>
            </a:extLst>
          </p:cNvPr>
          <p:cNvSpPr/>
          <p:nvPr/>
        </p:nvSpPr>
        <p:spPr>
          <a:xfrm>
            <a:off x="838200" y="1485900"/>
            <a:ext cx="3365500" cy="1325563"/>
          </a:xfrm>
          <a:prstGeom prst="cloud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動いているものを全部追うのは大変</a:t>
            </a:r>
            <a:r>
              <a:rPr lang="en-US" altLang="ja-JP" dirty="0">
                <a:solidFill>
                  <a:sysClr val="windowText" lastClr="000000"/>
                </a:solidFill>
              </a:rPr>
              <a:t>...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58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100</Words>
  <Application>Microsoft Macintosh PowerPoint</Application>
  <PresentationFormat>ワイド画面</PresentationFormat>
  <Paragraphs>18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アルゴリズム選定</vt:lpstr>
      <vt:lpstr>フレーム間差分</vt:lpstr>
      <vt:lpstr>動きの追跡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8</cp:revision>
  <dcterms:created xsi:type="dcterms:W3CDTF">2026-05-29T05:57:48Z</dcterms:created>
  <dcterms:modified xsi:type="dcterms:W3CDTF">2026-05-29T07:10:08Z</dcterms:modified>
</cp:coreProperties>
</file>
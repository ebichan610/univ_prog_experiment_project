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4"/>
    <p:restoredTop sz="94625"/>
  </p:normalViewPr>
  <p:slideViewPr>
    <p:cSldViewPr snapToGrid="0">
      <p:cViewPr varScale="1">
        <p:scale>
          <a:sx n="100" d="100"/>
          <a:sy n="100" d="100"/>
        </p:scale>
        <p:origin x="904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447C2C1-8F21-B05E-B30E-5F69C759D4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BF787B2-298D-24DD-F110-A1289DC210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BB190E5-1114-7FC0-9A1F-7D537DFD2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69D1F-A7D1-C145-9DA5-1F881D0B5FF8}" type="datetimeFigureOut">
              <a:rPr kumimoji="1" lang="ja-JP" altLang="en-US" smtClean="0"/>
              <a:t>2026/5/9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B73DBB5-B508-85A9-3056-D0FF38A838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ACCC36E-E863-4AC8-B9C4-E704032AD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FBED33-3A6C-AE44-B8FA-6BC543E2464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59627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BC8D1E-C931-2F32-2106-25E83DB0F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399BEB8-E3BF-6200-BAA0-5520B05507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214BFD7-4230-2F3A-6540-5EDAF0C80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69D1F-A7D1-C145-9DA5-1F881D0B5FF8}" type="datetimeFigureOut">
              <a:rPr kumimoji="1" lang="ja-JP" altLang="en-US" smtClean="0"/>
              <a:t>2026/5/9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0FC64D0-FAD4-B73A-E289-D55BDE91DF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3F97ABE-16FE-FF02-6C6C-34B60A643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FBED33-3A6C-AE44-B8FA-6BC543E2464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83639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2479D05-8484-2D96-FA09-A3D85F72F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ECB6C9D-256F-0A57-F793-AA6F068FF2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F911097-4906-239C-624B-E437F9D89A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69D1F-A7D1-C145-9DA5-1F881D0B5FF8}" type="datetimeFigureOut">
              <a:rPr kumimoji="1" lang="ja-JP" altLang="en-US" smtClean="0"/>
              <a:t>2026/5/9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5E5032E-4FEF-1509-034A-6B19CE626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C11DB5A-F986-96FC-47F3-A387BFEA2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FBED33-3A6C-AE44-B8FA-6BC543E2464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696616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1866F1D-1FB1-35FD-DE7F-99BE0A50F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0A7F881-2F45-29F6-3AF3-63B5D6CF7B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76597AF-BADA-F915-08EC-0F19E0F498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718D4DB-D114-5BB5-7099-7C26BB3EC5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69D1F-A7D1-C145-9DA5-1F881D0B5FF8}" type="datetimeFigureOut">
              <a:rPr kumimoji="1" lang="ja-JP" altLang="en-US" smtClean="0"/>
              <a:t>2026/5/9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F4A82F-84CE-8CD7-E5F1-F3854ED8EE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27AB0E8-3F13-AC8B-9A72-B6E41F7D1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FBED33-3A6C-AE44-B8FA-6BC543E2464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342655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31AC3AC-27EC-C196-6536-ACA0F6012F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E9D1CC9-0FB6-EE75-2587-B0A286E183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DB995CC-3CE9-0B57-FF86-053559A0C3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D8C9AC7F-FD0F-B00D-000D-4E5873BA8D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47AFE8C1-9909-1240-B406-70A5EF3A79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600A180C-9175-513B-6842-1F547A774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69D1F-A7D1-C145-9DA5-1F881D0B5FF8}" type="datetimeFigureOut">
              <a:rPr kumimoji="1" lang="ja-JP" altLang="en-US" smtClean="0"/>
              <a:t>2026/5/9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0BB92AF-0E21-FD5F-2C31-79C311898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B61A2446-3E17-B309-637D-0E84B2AE7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FBED33-3A6C-AE44-B8FA-6BC543E2464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44740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BB23A0E-6771-F7A9-9DF7-8FBA8EC08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42146DD3-EF72-BFF9-7912-0931C9066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69D1F-A7D1-C145-9DA5-1F881D0B5FF8}" type="datetimeFigureOut">
              <a:rPr kumimoji="1" lang="ja-JP" altLang="en-US" smtClean="0"/>
              <a:t>2026/5/9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BDFF78A-578D-73B9-8C14-79420195FE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5657AA0-35EA-B3B1-A52E-14B7330AD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FBED33-3A6C-AE44-B8FA-6BC543E2464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59672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F819618B-ED56-A2EA-8FC2-5B6C0A2529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69D1F-A7D1-C145-9DA5-1F881D0B5FF8}" type="datetimeFigureOut">
              <a:rPr kumimoji="1" lang="ja-JP" altLang="en-US" smtClean="0"/>
              <a:t>2026/5/9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F3C59FC-BA60-E21A-862C-04DF4E4050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8FF30FC-A307-8893-2F8B-4F0D48E75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FBED33-3A6C-AE44-B8FA-6BC543E2464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83840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EB0E62B-F511-FCC3-4505-EBA537C810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EBB7CC4-1D77-066F-ACF7-009796CADC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B6825A6-2A1A-FB09-4BD4-3C6960445F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4A685E9-793B-3282-4D96-7C8301FDD6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69D1F-A7D1-C145-9DA5-1F881D0B5FF8}" type="datetimeFigureOut">
              <a:rPr kumimoji="1" lang="ja-JP" altLang="en-US" smtClean="0"/>
              <a:t>2026/5/9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5CC0AC9-1334-6FD9-539E-ECF5C69A1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4220ECE-766F-19DC-D8DE-815583E39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FBED33-3A6C-AE44-B8FA-6BC543E2464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947924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753113D-CC50-437D-33D6-660E4543F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EC2D2687-8F3C-4368-D832-587EF0FD23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7FAED5A-C83E-32B1-7E3F-E12BB1D3BF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74DCDD6-D8FA-66D7-878C-513AC9375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69D1F-A7D1-C145-9DA5-1F881D0B5FF8}" type="datetimeFigureOut">
              <a:rPr kumimoji="1" lang="ja-JP" altLang="en-US" smtClean="0"/>
              <a:t>2026/5/9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3AADB61-5DD8-4CAE-7119-CC94548802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A4885A3-D049-CCAB-B3B2-0923146F9B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FBED33-3A6C-AE44-B8FA-6BC543E2464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58543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77AAC9-4097-9EC4-64D6-CB019C2C9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129DEDC-C0B2-C529-EC66-13C9341F0B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75C1D8-6731-DCE0-3A4E-CB6EBDBABF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69D1F-A7D1-C145-9DA5-1F881D0B5FF8}" type="datetimeFigureOut">
              <a:rPr kumimoji="1" lang="ja-JP" altLang="en-US" smtClean="0"/>
              <a:t>2026/5/9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EB6E1C4-5122-073B-8CD9-50B4C1F71C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B373126-5DB7-B759-41E0-A06C76498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FBED33-3A6C-AE44-B8FA-6BC543E2464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788536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2A6EEBD-9858-40D3-65C6-1E20A17ADA8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B524537-8D45-A08C-1113-58EDC4C32D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C310AC-F489-562F-1B6B-536C58793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69D1F-A7D1-C145-9DA5-1F881D0B5FF8}" type="datetimeFigureOut">
              <a:rPr kumimoji="1" lang="ja-JP" altLang="en-US" smtClean="0"/>
              <a:t>2026/5/9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646BC18-390A-1DC2-B5DB-47B2636D0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2104A09-443E-78F7-445F-E5DDDA48E3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FBED33-3A6C-AE44-B8FA-6BC543E2464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0656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05B4E38-3678-CB46-B142-75C38F3DAE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2F4DE77-01A1-1030-CC0D-6A213A0DE7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573264C-BEEA-34AE-0995-69F7E072444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E69D1F-A7D1-C145-9DA5-1F881D0B5FF8}" type="datetimeFigureOut">
              <a:rPr kumimoji="1" lang="ja-JP" altLang="en-US" smtClean="0"/>
              <a:t>2026/5/9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4AF9114-5EF2-781D-D26A-843013B83E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8B6880D-1C8D-6CC8-85D8-EDAA66A659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FBED33-3A6C-AE44-B8FA-6BC543E2464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85005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43332975-F6EF-A810-099A-EECDCE2866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7350" y="2571750"/>
            <a:ext cx="3797300" cy="171450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9BF81F4-E0B8-4A65-1CF2-0D9026ED0C9A}"/>
              </a:ext>
            </a:extLst>
          </p:cNvPr>
          <p:cNvSpPr txBox="1"/>
          <p:nvPr/>
        </p:nvSpPr>
        <p:spPr>
          <a:xfrm>
            <a:off x="4836681" y="4286250"/>
            <a:ext cx="25186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図</a:t>
            </a:r>
            <a:r>
              <a:rPr kumimoji="1" lang="en-US" altLang="ja-JP" dirty="0"/>
              <a:t>1</a:t>
            </a:r>
            <a:r>
              <a:rPr kumimoji="1" lang="ja-JP" altLang="en-US"/>
              <a:t>　</a:t>
            </a:r>
            <a:r>
              <a:rPr kumimoji="1" lang="en-US" altLang="ja-JP" dirty="0"/>
              <a:t>1</a:t>
            </a:r>
            <a:r>
              <a:rPr kumimoji="1" lang="ja-JP" altLang="en-US"/>
              <a:t>問目の実行結果</a:t>
            </a:r>
          </a:p>
        </p:txBody>
      </p:sp>
    </p:spTree>
    <p:extLst>
      <p:ext uri="{BB962C8B-B14F-4D97-AF65-F5344CB8AC3E}">
        <p14:creationId xmlns:p14="http://schemas.microsoft.com/office/powerpoint/2010/main" val="18873781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082A2BD-8936-9C39-CB44-78310B92BB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452" y="-19627"/>
            <a:ext cx="5295548" cy="3448627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A53A4E7C-7518-F5BB-B1E3-B390C1EE56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-19628"/>
            <a:ext cx="5295548" cy="3448627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C0CCF536-9080-4C32-B0AB-37C443CEA9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452" y="3429000"/>
            <a:ext cx="5295548" cy="3448627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EF0B8D89-8A7D-2E12-72C9-8646CF685A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3429000"/>
            <a:ext cx="5295548" cy="3448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39330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B342184C-020A-D33C-2954-BFB5616CC0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894117"/>
            <a:ext cx="7772400" cy="5069766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8127665-F072-96A7-3929-946F26EA805E}"/>
              </a:ext>
            </a:extLst>
          </p:cNvPr>
          <p:cNvSpPr txBox="1"/>
          <p:nvPr/>
        </p:nvSpPr>
        <p:spPr>
          <a:xfrm>
            <a:off x="3534241" y="5963883"/>
            <a:ext cx="51235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図</a:t>
            </a:r>
            <a:r>
              <a:rPr kumimoji="1" lang="en-US" altLang="ja-JP" dirty="0"/>
              <a:t>2-1</a:t>
            </a:r>
            <a:r>
              <a:rPr kumimoji="1" lang="ja-JP" altLang="en-US"/>
              <a:t>　</a:t>
            </a:r>
            <a:r>
              <a:rPr kumimoji="1" lang="en-US" altLang="ja-JP" dirty="0"/>
              <a:t>2</a:t>
            </a:r>
            <a:r>
              <a:rPr kumimoji="1" lang="ja-JP" altLang="en-US"/>
              <a:t>値化画像の</a:t>
            </a:r>
            <a:r>
              <a:rPr lang="ja-JP" altLang="en-US"/>
              <a:t>出力結果</a:t>
            </a:r>
            <a:r>
              <a:rPr lang="en-US" altLang="ja-JP" dirty="0"/>
              <a:t>(</a:t>
            </a:r>
            <a:r>
              <a:rPr lang="ja-JP" altLang="en-US"/>
              <a:t>閾値</a:t>
            </a:r>
            <a:r>
              <a:rPr lang="en-US" altLang="ja-JP" dirty="0"/>
              <a:t>0, 20, 40, 60)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669737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007A8AA-99FC-3D30-644F-EB9DAE9D90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591" y="0"/>
            <a:ext cx="5265409" cy="3429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74F45AC4-4D1E-5175-E3AE-EC66780940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0"/>
            <a:ext cx="5265409" cy="3429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3953AFF5-B746-8A11-5B9A-2E4C298A27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591" y="3429000"/>
            <a:ext cx="5265409" cy="3429000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33F92D1A-1F9E-CB09-5B4B-32DAFBCA5C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5999" y="3429000"/>
            <a:ext cx="5265410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35186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CF7EFE8-D5A8-46A1-AB4C-B068CEF8A5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900629"/>
            <a:ext cx="7772400" cy="5056742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72A7C97-41D8-9D6B-A4E7-C176CC05CCEB}"/>
              </a:ext>
            </a:extLst>
          </p:cNvPr>
          <p:cNvSpPr txBox="1"/>
          <p:nvPr/>
        </p:nvSpPr>
        <p:spPr>
          <a:xfrm>
            <a:off x="3277760" y="5957371"/>
            <a:ext cx="56364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図</a:t>
            </a:r>
            <a:r>
              <a:rPr kumimoji="1" lang="en-US" altLang="ja-JP" dirty="0"/>
              <a:t>2-2</a:t>
            </a:r>
            <a:r>
              <a:rPr kumimoji="1" lang="ja-JP" altLang="en-US"/>
              <a:t>　</a:t>
            </a:r>
            <a:r>
              <a:rPr kumimoji="1" lang="en-US" altLang="ja-JP" dirty="0"/>
              <a:t>2</a:t>
            </a:r>
            <a:r>
              <a:rPr kumimoji="1" lang="ja-JP" altLang="en-US"/>
              <a:t>値化画像の</a:t>
            </a:r>
            <a:r>
              <a:rPr lang="ja-JP" altLang="en-US"/>
              <a:t>出力結果</a:t>
            </a:r>
            <a:r>
              <a:rPr lang="en-US" altLang="ja-JP" dirty="0"/>
              <a:t>(</a:t>
            </a:r>
            <a:r>
              <a:rPr lang="ja-JP" altLang="en-US"/>
              <a:t>閾値</a:t>
            </a:r>
            <a:r>
              <a:rPr lang="en-US" altLang="ja-JP" dirty="0"/>
              <a:t>80, 100, 120, 140)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893482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78ECA450-9DFD-9229-A8FF-DA9DD49AE5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591" y="0"/>
            <a:ext cx="5265409" cy="3429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B4BE6848-F78D-D13D-07ED-2B73213CF2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0"/>
            <a:ext cx="5265410" cy="3429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B6D4F9CD-A52F-39B7-6AB5-2BF2286438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590" y="3429000"/>
            <a:ext cx="5265409" cy="3429000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F8196E28-6965-F8D3-8A91-F9ECA0569A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3429000"/>
            <a:ext cx="5265410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81406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112145FB-B160-E19F-A04A-4847A333CB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900629"/>
            <a:ext cx="7772400" cy="5056742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E5C212F-2344-D682-E2D3-AC98CA8FA6F0}"/>
              </a:ext>
            </a:extLst>
          </p:cNvPr>
          <p:cNvSpPr txBox="1"/>
          <p:nvPr/>
        </p:nvSpPr>
        <p:spPr>
          <a:xfrm>
            <a:off x="3213640" y="5983842"/>
            <a:ext cx="57647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図</a:t>
            </a:r>
            <a:r>
              <a:rPr kumimoji="1" lang="en-US" altLang="ja-JP" dirty="0"/>
              <a:t>2-3</a:t>
            </a:r>
            <a:r>
              <a:rPr kumimoji="1" lang="ja-JP" altLang="en-US"/>
              <a:t>　</a:t>
            </a:r>
            <a:r>
              <a:rPr kumimoji="1" lang="en-US" altLang="ja-JP" dirty="0"/>
              <a:t>2</a:t>
            </a:r>
            <a:r>
              <a:rPr kumimoji="1" lang="ja-JP" altLang="en-US"/>
              <a:t>値化画像の</a:t>
            </a:r>
            <a:r>
              <a:rPr lang="ja-JP" altLang="en-US"/>
              <a:t>出力結果</a:t>
            </a:r>
            <a:r>
              <a:rPr lang="en-US" altLang="ja-JP" dirty="0"/>
              <a:t>(</a:t>
            </a:r>
            <a:r>
              <a:rPr lang="ja-JP" altLang="en-US"/>
              <a:t>閾値</a:t>
            </a:r>
            <a:r>
              <a:rPr lang="en-US" altLang="ja-JP" dirty="0"/>
              <a:t>160, 180, 200, 220)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2729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00E0219-663C-B476-FB7D-68617FCEF6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591" y="1714500"/>
            <a:ext cx="5265409" cy="3429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5AC33ADB-5FB2-77B4-F427-025C064614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1" y="1714500"/>
            <a:ext cx="5265409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3446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6BF6BC0-1D34-E587-B05C-68E47621F0A9}"/>
              </a:ext>
            </a:extLst>
          </p:cNvPr>
          <p:cNvSpPr txBox="1"/>
          <p:nvPr/>
        </p:nvSpPr>
        <p:spPr>
          <a:xfrm>
            <a:off x="3723395" y="4693185"/>
            <a:ext cx="4745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図</a:t>
            </a:r>
            <a:r>
              <a:rPr kumimoji="1" lang="en-US" altLang="ja-JP" dirty="0"/>
              <a:t>2-4</a:t>
            </a:r>
            <a:r>
              <a:rPr kumimoji="1" lang="ja-JP" altLang="en-US"/>
              <a:t>　</a:t>
            </a:r>
            <a:r>
              <a:rPr kumimoji="1" lang="en-US" altLang="ja-JP" dirty="0"/>
              <a:t>2</a:t>
            </a:r>
            <a:r>
              <a:rPr kumimoji="1" lang="ja-JP" altLang="en-US"/>
              <a:t>値化画像の</a:t>
            </a:r>
            <a:r>
              <a:rPr lang="ja-JP" altLang="en-US"/>
              <a:t>出力結果</a:t>
            </a:r>
            <a:r>
              <a:rPr lang="en-US" altLang="ja-JP" dirty="0"/>
              <a:t>(</a:t>
            </a:r>
            <a:r>
              <a:rPr lang="ja-JP" altLang="en-US"/>
              <a:t>閾値</a:t>
            </a:r>
            <a:r>
              <a:rPr lang="en-US" altLang="ja-JP" dirty="0"/>
              <a:t>240, 255)</a:t>
            </a:r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BA0F4BEB-9378-009F-8AA3-79C8B7E734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164814"/>
            <a:ext cx="7772400" cy="2528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3713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04182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0573E7E4-2B94-6CD3-4701-291561FB14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4950" y="1017484"/>
            <a:ext cx="6642100" cy="4823032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0F9A395-6DD8-F1DE-E3F0-7751220E573B}"/>
              </a:ext>
            </a:extLst>
          </p:cNvPr>
          <p:cNvSpPr txBox="1"/>
          <p:nvPr/>
        </p:nvSpPr>
        <p:spPr>
          <a:xfrm>
            <a:off x="3753051" y="6025182"/>
            <a:ext cx="46858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図</a:t>
            </a:r>
            <a:r>
              <a:rPr kumimoji="1" lang="en-US" altLang="ja-JP" dirty="0"/>
              <a:t>4-2-1</a:t>
            </a:r>
            <a:r>
              <a:rPr kumimoji="1" lang="ja-JP" altLang="en-US"/>
              <a:t>　</a:t>
            </a:r>
            <a:r>
              <a:rPr kumimoji="1" lang="en-US" altLang="ja-JP" dirty="0"/>
              <a:t>RBF</a:t>
            </a:r>
            <a:r>
              <a:rPr kumimoji="1" lang="ja-JP" altLang="en-US"/>
              <a:t>カーネルの実行結果のグラフ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26C3CA4-018B-3E39-BF6D-DF27628EC785}"/>
              </a:ext>
            </a:extLst>
          </p:cNvPr>
          <p:cNvSpPr txBox="1"/>
          <p:nvPr/>
        </p:nvSpPr>
        <p:spPr>
          <a:xfrm>
            <a:off x="5925120" y="5655850"/>
            <a:ext cx="341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C</a:t>
            </a:r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A4A8871-E9A7-0CA8-CCA3-0FBB71F48372}"/>
              </a:ext>
            </a:extLst>
          </p:cNvPr>
          <p:cNvSpPr txBox="1"/>
          <p:nvPr/>
        </p:nvSpPr>
        <p:spPr>
          <a:xfrm rot="16200000">
            <a:off x="2154428" y="3244334"/>
            <a:ext cx="1241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正解率</a:t>
            </a:r>
            <a:r>
              <a:rPr lang="en-US" altLang="ja-JP" dirty="0"/>
              <a:t>(%)</a:t>
            </a:r>
            <a:endParaRPr kumimoji="1" lang="ja-JP" altLang="en-US"/>
          </a:p>
        </p:txBody>
      </p: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81078D3F-B133-A96E-BD22-B7220345F809}"/>
              </a:ext>
            </a:extLst>
          </p:cNvPr>
          <p:cNvCxnSpPr/>
          <p:nvPr/>
        </p:nvCxnSpPr>
        <p:spPr>
          <a:xfrm flipV="1">
            <a:off x="8769866" y="1130300"/>
            <a:ext cx="914400" cy="4953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41FAE07D-4F85-412F-79A5-57B4A6B6D1C0}"/>
                  </a:ext>
                </a:extLst>
              </p:cNvPr>
              <p:cNvSpPr txBox="1"/>
              <p:nvPr/>
            </p:nvSpPr>
            <p:spPr>
              <a:xfrm>
                <a:off x="9487470" y="853301"/>
                <a:ext cx="105618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ja-JP" altLang="en-US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=0.001</m:t>
                      </m:r>
                    </m:oMath>
                  </m:oMathPara>
                </a14:m>
                <a:endParaRPr kumimoji="1" lang="ja-JP" altLang="en-US"/>
              </a:p>
            </p:txBody>
          </p:sp>
        </mc:Choice>
        <mc:Fallback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41FAE07D-4F85-412F-79A5-57B4A6B6D1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87470" y="853301"/>
                <a:ext cx="1056187" cy="276999"/>
              </a:xfrm>
              <a:prstGeom prst="rect">
                <a:avLst/>
              </a:prstGeom>
              <a:blipFill>
                <a:blip r:embed="rId3"/>
                <a:stretch>
                  <a:fillRect l="-3529" r="-3529" b="-3181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981594B3-BA00-3F6F-79FA-B0C22B925763}"/>
              </a:ext>
            </a:extLst>
          </p:cNvPr>
          <p:cNvCxnSpPr>
            <a:cxnSpLocks/>
          </p:cNvCxnSpPr>
          <p:nvPr/>
        </p:nvCxnSpPr>
        <p:spPr>
          <a:xfrm>
            <a:off x="8991208" y="2971800"/>
            <a:ext cx="235858" cy="7747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テキスト ボックス 14">
                <a:extLst>
                  <a:ext uri="{FF2B5EF4-FFF2-40B4-BE49-F238E27FC236}">
                    <a16:creationId xmlns:a16="http://schemas.microsoft.com/office/drawing/2014/main" id="{043D358F-C3BC-E3F6-7D51-B7AC42F26E0A}"/>
                  </a:ext>
                </a:extLst>
              </p:cNvPr>
              <p:cNvSpPr txBox="1"/>
              <p:nvPr/>
            </p:nvSpPr>
            <p:spPr>
              <a:xfrm>
                <a:off x="9260429" y="3651708"/>
                <a:ext cx="75161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ja-JP" altLang="en-US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=10</m:t>
                      </m:r>
                    </m:oMath>
                  </m:oMathPara>
                </a14:m>
                <a:endParaRPr kumimoji="1" lang="ja-JP" altLang="en-US"/>
              </a:p>
            </p:txBody>
          </p:sp>
        </mc:Choice>
        <mc:Fallback>
          <p:sp>
            <p:nvSpPr>
              <p:cNvPr id="15" name="テキスト ボックス 14">
                <a:extLst>
                  <a:ext uri="{FF2B5EF4-FFF2-40B4-BE49-F238E27FC236}">
                    <a16:creationId xmlns:a16="http://schemas.microsoft.com/office/drawing/2014/main" id="{043D358F-C3BC-E3F6-7D51-B7AC42F26E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0429" y="3651708"/>
                <a:ext cx="751616" cy="276999"/>
              </a:xfrm>
              <a:prstGeom prst="rect">
                <a:avLst/>
              </a:prstGeom>
              <a:blipFill>
                <a:blip r:embed="rId4"/>
                <a:stretch>
                  <a:fillRect l="-6667" r="-5000" b="-2608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F3D5449F-D4C8-DBDF-2CB0-DB88E01C8FA1}"/>
              </a:ext>
            </a:extLst>
          </p:cNvPr>
          <p:cNvCxnSpPr>
            <a:cxnSpLocks/>
          </p:cNvCxnSpPr>
          <p:nvPr/>
        </p:nvCxnSpPr>
        <p:spPr>
          <a:xfrm flipH="1">
            <a:off x="8045966" y="3651708"/>
            <a:ext cx="221734" cy="7747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AD77C420-791B-9E75-5EA1-4B356FC08DE0}"/>
                  </a:ext>
                </a:extLst>
              </p:cNvPr>
              <p:cNvSpPr txBox="1"/>
              <p:nvPr/>
            </p:nvSpPr>
            <p:spPr>
              <a:xfrm>
                <a:off x="7670158" y="4380242"/>
                <a:ext cx="79970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ja-JP" altLang="en-US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=0.1</m:t>
                      </m:r>
                    </m:oMath>
                  </m:oMathPara>
                </a14:m>
                <a:endParaRPr kumimoji="1" lang="ja-JP" altLang="en-US"/>
              </a:p>
            </p:txBody>
          </p:sp>
        </mc:Choice>
        <mc:Fallback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AD77C420-791B-9E75-5EA1-4B356FC08D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0158" y="4380242"/>
                <a:ext cx="799706" cy="276999"/>
              </a:xfrm>
              <a:prstGeom prst="rect">
                <a:avLst/>
              </a:prstGeom>
              <a:blipFill>
                <a:blip r:embed="rId5"/>
                <a:stretch>
                  <a:fillRect l="-4688" r="-6250" b="-2727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B57D10E0-6EAE-64C5-DF5B-C909B943CCBD}"/>
              </a:ext>
            </a:extLst>
          </p:cNvPr>
          <p:cNvCxnSpPr>
            <a:cxnSpLocks/>
          </p:cNvCxnSpPr>
          <p:nvPr/>
        </p:nvCxnSpPr>
        <p:spPr>
          <a:xfrm flipV="1">
            <a:off x="8953678" y="2051050"/>
            <a:ext cx="533792" cy="2476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テキスト ボックス 20">
                <a:extLst>
                  <a:ext uri="{FF2B5EF4-FFF2-40B4-BE49-F238E27FC236}">
                    <a16:creationId xmlns:a16="http://schemas.microsoft.com/office/drawing/2014/main" id="{F9320362-E078-7C4F-DA79-A9B7A5765FE4}"/>
                  </a:ext>
                </a:extLst>
              </p:cNvPr>
              <p:cNvSpPr txBox="1"/>
              <p:nvPr/>
            </p:nvSpPr>
            <p:spPr>
              <a:xfrm>
                <a:off x="9417050" y="1727855"/>
                <a:ext cx="92794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ja-JP" altLang="en-US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=0.01</m:t>
                      </m:r>
                    </m:oMath>
                  </m:oMathPara>
                </a14:m>
                <a:endParaRPr kumimoji="1" lang="ja-JP" altLang="en-US"/>
              </a:p>
            </p:txBody>
          </p:sp>
        </mc:Choice>
        <mc:Fallback>
          <p:sp>
            <p:nvSpPr>
              <p:cNvPr id="21" name="テキスト ボックス 20">
                <a:extLst>
                  <a:ext uri="{FF2B5EF4-FFF2-40B4-BE49-F238E27FC236}">
                    <a16:creationId xmlns:a16="http://schemas.microsoft.com/office/drawing/2014/main" id="{F9320362-E078-7C4F-DA79-A9B7A5765F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17050" y="1727855"/>
                <a:ext cx="927946" cy="276999"/>
              </a:xfrm>
              <a:prstGeom prst="rect">
                <a:avLst/>
              </a:prstGeom>
              <a:blipFill>
                <a:blip r:embed="rId6"/>
                <a:stretch>
                  <a:fillRect l="-5405" r="-4054" b="-2608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D0D890B5-9CF9-8ABD-C8F7-E4ADC12EFFBD}"/>
              </a:ext>
            </a:extLst>
          </p:cNvPr>
          <p:cNvCxnSpPr>
            <a:cxnSpLocks/>
          </p:cNvCxnSpPr>
          <p:nvPr/>
        </p:nvCxnSpPr>
        <p:spPr>
          <a:xfrm flipV="1">
            <a:off x="6972300" y="2451213"/>
            <a:ext cx="1718325" cy="3572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テキスト ボックス 23">
                <a:extLst>
                  <a:ext uri="{FF2B5EF4-FFF2-40B4-BE49-F238E27FC236}">
                    <a16:creationId xmlns:a16="http://schemas.microsoft.com/office/drawing/2014/main" id="{2DAAD978-387F-0BB1-C743-32D7A543D30C}"/>
                  </a:ext>
                </a:extLst>
              </p:cNvPr>
              <p:cNvSpPr txBox="1"/>
              <p:nvPr/>
            </p:nvSpPr>
            <p:spPr>
              <a:xfrm>
                <a:off x="6377305" y="2833300"/>
                <a:ext cx="62337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ja-JP" altLang="en-US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kumimoji="1" lang="ja-JP" altLang="en-US"/>
              </a:p>
            </p:txBody>
          </p:sp>
        </mc:Choice>
        <mc:Fallback>
          <p:sp>
            <p:nvSpPr>
              <p:cNvPr id="24" name="テキスト ボックス 23">
                <a:extLst>
                  <a:ext uri="{FF2B5EF4-FFF2-40B4-BE49-F238E27FC236}">
                    <a16:creationId xmlns:a16="http://schemas.microsoft.com/office/drawing/2014/main" id="{2DAAD978-387F-0BB1-C743-32D7A543D3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7305" y="2833300"/>
                <a:ext cx="623376" cy="276999"/>
              </a:xfrm>
              <a:prstGeom prst="rect">
                <a:avLst/>
              </a:prstGeom>
              <a:blipFill>
                <a:blip r:embed="rId7"/>
                <a:stretch>
                  <a:fillRect l="-8000" r="-6000" b="-3181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8903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244AD5A-3184-D244-BA28-D79FDF0D32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0000" y="1295400"/>
            <a:ext cx="7112000" cy="426720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54733F0-70EE-8D22-1495-D5B7518219DA}"/>
              </a:ext>
            </a:extLst>
          </p:cNvPr>
          <p:cNvSpPr txBox="1"/>
          <p:nvPr/>
        </p:nvSpPr>
        <p:spPr>
          <a:xfrm>
            <a:off x="3753050" y="5793891"/>
            <a:ext cx="4926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図</a:t>
            </a:r>
            <a:r>
              <a:rPr kumimoji="1" lang="en-US" altLang="ja-JP" dirty="0"/>
              <a:t>4-2-1</a:t>
            </a:r>
            <a:r>
              <a:rPr kumimoji="1" lang="ja-JP" altLang="en-US"/>
              <a:t>　</a:t>
            </a:r>
            <a:r>
              <a:rPr lang="ja-JP" altLang="en-US"/>
              <a:t>多項式</a:t>
            </a:r>
            <a:r>
              <a:rPr kumimoji="1" lang="ja-JP" altLang="en-US"/>
              <a:t>カーネルの実行結果のグラフ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6A94B6A-F380-72F3-8C2D-A0CC5B932C93}"/>
              </a:ext>
            </a:extLst>
          </p:cNvPr>
          <p:cNvSpPr txBox="1"/>
          <p:nvPr/>
        </p:nvSpPr>
        <p:spPr>
          <a:xfrm>
            <a:off x="6045345" y="5424559"/>
            <a:ext cx="341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C</a:t>
            </a:r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BA1240F-FE1D-F005-9C61-A9C64E98BF74}"/>
              </a:ext>
            </a:extLst>
          </p:cNvPr>
          <p:cNvSpPr txBox="1"/>
          <p:nvPr/>
        </p:nvSpPr>
        <p:spPr>
          <a:xfrm rot="16200000">
            <a:off x="1919478" y="3244333"/>
            <a:ext cx="1241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正解率</a:t>
            </a:r>
            <a:r>
              <a:rPr lang="en-US" altLang="ja-JP" dirty="0"/>
              <a:t>(%)</a:t>
            </a:r>
            <a:endParaRPr kumimoji="1" lang="ja-JP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F9E9D149-9CF3-D248-8E49-BD392C1DDA41}"/>
                  </a:ext>
                </a:extLst>
              </p:cNvPr>
              <p:cNvSpPr txBox="1"/>
              <p:nvPr/>
            </p:nvSpPr>
            <p:spPr>
              <a:xfrm>
                <a:off x="9402334" y="2186602"/>
                <a:ext cx="10932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kumimoji="1" lang="en-US" altLang="ja-JP" b="0" dirty="0"/>
                  <a:t>degree</a:t>
                </a:r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=5</m:t>
                    </m:r>
                  </m:oMath>
                </a14:m>
                <a:endParaRPr kumimoji="1" lang="ja-JP" altLang="en-US"/>
              </a:p>
            </p:txBody>
          </p:sp>
        </mc:Choice>
        <mc:Fallback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F9E9D149-9CF3-D248-8E49-BD392C1DDA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2334" y="2186602"/>
                <a:ext cx="1093248" cy="276999"/>
              </a:xfrm>
              <a:prstGeom prst="rect">
                <a:avLst/>
              </a:prstGeom>
              <a:blipFill>
                <a:blip r:embed="rId3"/>
                <a:stretch>
                  <a:fillRect l="-12644" t="-27273" r="-6897" b="-5454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5AAC3A6B-1701-0D2A-B63B-9ACB0A499D87}"/>
              </a:ext>
            </a:extLst>
          </p:cNvPr>
          <p:cNvCxnSpPr>
            <a:cxnSpLocks/>
          </p:cNvCxnSpPr>
          <p:nvPr/>
        </p:nvCxnSpPr>
        <p:spPr>
          <a:xfrm>
            <a:off x="8625205" y="2026652"/>
            <a:ext cx="762000" cy="2984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E8CBBAB4-DEC2-BC66-FF5E-C38F747277CE}"/>
              </a:ext>
            </a:extLst>
          </p:cNvPr>
          <p:cNvCxnSpPr>
            <a:cxnSpLocks/>
          </p:cNvCxnSpPr>
          <p:nvPr/>
        </p:nvCxnSpPr>
        <p:spPr>
          <a:xfrm>
            <a:off x="8890000" y="2868055"/>
            <a:ext cx="762000" cy="2984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8811FF43-86F0-F3A4-5D07-3E36C24641CF}"/>
                  </a:ext>
                </a:extLst>
              </p:cNvPr>
              <p:cNvSpPr txBox="1"/>
              <p:nvPr/>
            </p:nvSpPr>
            <p:spPr>
              <a:xfrm>
                <a:off x="9527167" y="3152000"/>
                <a:ext cx="10932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kumimoji="1" lang="en-US" altLang="ja-JP" b="0" dirty="0"/>
                  <a:t>degree</a:t>
                </a:r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kumimoji="1" lang="ja-JP" altLang="en-US"/>
              </a:p>
            </p:txBody>
          </p:sp>
        </mc:Choice>
        <mc:Fallback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8811FF43-86F0-F3A4-5D07-3E36C24641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7167" y="3152000"/>
                <a:ext cx="1093248" cy="276999"/>
              </a:xfrm>
              <a:prstGeom prst="rect">
                <a:avLst/>
              </a:prstGeom>
              <a:blipFill>
                <a:blip r:embed="rId4"/>
                <a:stretch>
                  <a:fillRect l="-13793" t="-27273" r="-5747" b="-5454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C1A8984D-B717-6ABA-495D-E30055217F10}"/>
                  </a:ext>
                </a:extLst>
              </p:cNvPr>
              <p:cNvSpPr txBox="1"/>
              <p:nvPr/>
            </p:nvSpPr>
            <p:spPr>
              <a:xfrm>
                <a:off x="5840481" y="2669976"/>
                <a:ext cx="10932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kumimoji="1" lang="en-US" altLang="ja-JP" b="0" dirty="0"/>
                  <a:t>degree</a:t>
                </a:r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kumimoji="1" lang="ja-JP" altLang="en-US"/>
              </a:p>
            </p:txBody>
          </p:sp>
        </mc:Choice>
        <mc:Fallback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C1A8984D-B717-6ABA-495D-E30055217F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0481" y="2669976"/>
                <a:ext cx="1093248" cy="276999"/>
              </a:xfrm>
              <a:prstGeom prst="rect">
                <a:avLst/>
              </a:prstGeom>
              <a:blipFill>
                <a:blip r:embed="rId5"/>
                <a:stretch>
                  <a:fillRect l="-12644" t="-27273" r="-6897" b="-5454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テキスト ボックス 14">
                <a:extLst>
                  <a:ext uri="{FF2B5EF4-FFF2-40B4-BE49-F238E27FC236}">
                    <a16:creationId xmlns:a16="http://schemas.microsoft.com/office/drawing/2014/main" id="{EA277393-0C8B-F88C-C87E-2D50D90D77DA}"/>
                  </a:ext>
                </a:extLst>
              </p:cNvPr>
              <p:cNvSpPr txBox="1"/>
              <p:nvPr/>
            </p:nvSpPr>
            <p:spPr>
              <a:xfrm>
                <a:off x="7912957" y="4394399"/>
                <a:ext cx="10932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kumimoji="1" lang="en-US" altLang="ja-JP" b="0" dirty="0"/>
                  <a:t>degree</a:t>
                </a:r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endParaRPr kumimoji="1" lang="ja-JP" altLang="en-US"/>
              </a:p>
            </p:txBody>
          </p:sp>
        </mc:Choice>
        <mc:Fallback>
          <p:sp>
            <p:nvSpPr>
              <p:cNvPr id="15" name="テキスト ボックス 14">
                <a:extLst>
                  <a:ext uri="{FF2B5EF4-FFF2-40B4-BE49-F238E27FC236}">
                    <a16:creationId xmlns:a16="http://schemas.microsoft.com/office/drawing/2014/main" id="{EA277393-0C8B-F88C-C87E-2D50D90D77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12957" y="4394399"/>
                <a:ext cx="1093248" cy="276999"/>
              </a:xfrm>
              <a:prstGeom prst="rect">
                <a:avLst/>
              </a:prstGeom>
              <a:blipFill>
                <a:blip r:embed="rId6"/>
                <a:stretch>
                  <a:fillRect l="-12791" t="-27273" r="-6977" b="-5454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C7C229C1-43EA-DD48-7DDD-A7AA0E9CC95F}"/>
                  </a:ext>
                </a:extLst>
              </p:cNvPr>
              <p:cNvSpPr txBox="1"/>
              <p:nvPr/>
            </p:nvSpPr>
            <p:spPr>
              <a:xfrm>
                <a:off x="9589584" y="3897756"/>
                <a:ext cx="10932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kumimoji="1" lang="en-US" altLang="ja-JP" b="0" dirty="0"/>
                  <a:t>degree</a:t>
                </a:r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kumimoji="1" lang="ja-JP" altLang="en-US"/>
              </a:p>
            </p:txBody>
          </p:sp>
        </mc:Choice>
        <mc:Fallback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C7C229C1-43EA-DD48-7DDD-A7AA0E9CC9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89584" y="3897756"/>
                <a:ext cx="1093248" cy="276999"/>
              </a:xfrm>
              <a:prstGeom prst="rect">
                <a:avLst/>
              </a:prstGeom>
              <a:blipFill>
                <a:blip r:embed="rId7"/>
                <a:stretch>
                  <a:fillRect l="-12791" t="-26087" r="-6977" b="-5217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EACA644F-B7BF-A6C3-EA30-A4C9522BDA8B}"/>
              </a:ext>
            </a:extLst>
          </p:cNvPr>
          <p:cNvCxnSpPr>
            <a:cxnSpLocks/>
          </p:cNvCxnSpPr>
          <p:nvPr/>
        </p:nvCxnSpPr>
        <p:spPr>
          <a:xfrm>
            <a:off x="5131186" y="2289460"/>
            <a:ext cx="762000" cy="2984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8AC003D6-2024-F962-B032-EBCAA380BA23}"/>
              </a:ext>
            </a:extLst>
          </p:cNvPr>
          <p:cNvCxnSpPr>
            <a:cxnSpLocks/>
          </p:cNvCxnSpPr>
          <p:nvPr/>
        </p:nvCxnSpPr>
        <p:spPr>
          <a:xfrm>
            <a:off x="7178262" y="4013883"/>
            <a:ext cx="762000" cy="2984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4B4CABB6-82C4-F0BF-5A69-F27457750FFB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9387205" y="3785630"/>
            <a:ext cx="749003" cy="1121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53680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1504</TotalTime>
  <Words>129</Words>
  <Application>Microsoft Macintosh PowerPoint</Application>
  <PresentationFormat>ワイド画面</PresentationFormat>
  <Paragraphs>21</Paragraphs>
  <Slides>12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7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江尾　祐哉</dc:creator>
  <cp:lastModifiedBy>江尾　祐哉</cp:lastModifiedBy>
  <cp:revision>9</cp:revision>
  <dcterms:created xsi:type="dcterms:W3CDTF">2026-05-08T06:34:06Z</dcterms:created>
  <dcterms:modified xsi:type="dcterms:W3CDTF">2026-05-10T14:38:39Z</dcterms:modified>
</cp:coreProperties>
</file>